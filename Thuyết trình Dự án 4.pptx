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60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8288000" cy="10287000"/>
  <p:notesSz cx="6858000" cy="9144000"/>
  <p:embeddedFontLst>
    <p:embeddedFont>
      <p:font typeface="Noto Sans" panose="020B0604020202020204" charset="0"/>
      <p:regular r:id="rId22"/>
    </p:embeddedFont>
    <p:embeddedFont>
      <p:font typeface="Roboto Bold" panose="020B0604020202020204" charset="0"/>
      <p:regular r:id="rId23"/>
    </p:embeddedFont>
    <p:embeddedFont>
      <p:font typeface="Noto Sans Bold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Roboto Bold Italics" panose="020B0604020202020204" charset="0"/>
      <p:regular r:id="rId29"/>
    </p:embeddedFont>
    <p:embeddedFont>
      <p:font typeface="Roboto Italics" panose="020B0604020202020204" charset="0"/>
      <p:regular r:id="rId30"/>
    </p:embeddedFont>
    <p:embeddedFont>
      <p:font typeface="Be Vietnam Ultra-Bold" panose="020B0604020202020204" charset="0"/>
      <p:regular r:id="rId31"/>
    </p:embeddedFont>
    <p:embeddedFont>
      <p:font typeface="Roboto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219F8-FF01-4627-A1CB-71B754BDB43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55E8E-D7A5-41B2-891C-BA85D72D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1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FFAC83-3E11-4CCC-9238-CEA0225EC1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8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8.png"/><Relationship Id="rId4" Type="http://schemas.openxmlformats.org/officeDocument/2006/relationships/hyperlink" Target="https://youtu.be/JUbE6pWS-EY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54561" y="894343"/>
            <a:ext cx="8126354" cy="8193459"/>
          </a:xfrm>
          <a:custGeom>
            <a:avLst/>
            <a:gdLst/>
            <a:ahLst/>
            <a:cxnLst/>
            <a:rect l="l" t="t" r="r" b="b"/>
            <a:pathLst>
              <a:path w="8126354" h="8193459">
                <a:moveTo>
                  <a:pt x="0" y="0"/>
                </a:moveTo>
                <a:lnTo>
                  <a:pt x="8126354" y="0"/>
                </a:lnTo>
                <a:lnTo>
                  <a:pt x="8126354" y="8193459"/>
                </a:lnTo>
                <a:lnTo>
                  <a:pt x="0" y="8193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0" t="-599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47750" y="1457325"/>
            <a:ext cx="8300899" cy="2075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0"/>
              </a:lnSpc>
            </a:pPr>
            <a:r>
              <a:rPr lang="en-US" sz="5173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PHÁT TRIỂN VÀ GIỚI THIỆU TRÒ CHƠI ĐƠN GIẢN </a:t>
            </a:r>
          </a:p>
          <a:p>
            <a:pPr algn="l">
              <a:lnSpc>
                <a:spcPts val="5380"/>
              </a:lnSpc>
            </a:pPr>
            <a:endParaRPr lang="en-US" sz="5173" b="1">
              <a:solidFill>
                <a:srgbClr val="FFFFF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47750" y="3962400"/>
            <a:ext cx="7810500" cy="435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sz="2624">
                <a:solidFill>
                  <a:srgbClr val="F6B44B"/>
                </a:solidFill>
                <a:latin typeface="Noto Sans"/>
                <a:ea typeface="Noto Sans"/>
                <a:cs typeface="Noto Sans"/>
                <a:sym typeface="Noto Sans"/>
              </a:rPr>
              <a:t>Báo cáo học phần CT005 · Nền tảng công nghệ số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7750" y="4724400"/>
            <a:ext cx="6953250" cy="774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324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Đại học Cần Thơ</a:t>
            </a:r>
          </a:p>
          <a:p>
            <a:pPr algn="l">
              <a:lnSpc>
                <a:spcPts val="3138"/>
              </a:lnSpc>
            </a:pPr>
            <a:r>
              <a:rPr lang="en-US" sz="2324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Trường Công nghệ Thông tin &amp; Truyền thông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7750" y="6162913"/>
            <a:ext cx="8572500" cy="949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574">
                <a:solidFill>
                  <a:srgbClr val="FFF6DF"/>
                </a:solidFill>
                <a:latin typeface="Noto Sans"/>
                <a:ea typeface="Noto Sans"/>
                <a:cs typeface="Noto Sans"/>
                <a:sym typeface="Noto Sans"/>
              </a:rPr>
              <a:t>Lê Chí Tài (B2605830)  ·  Trần Song Uyển Nhi (B2605822)</a:t>
            </a:r>
          </a:p>
          <a:p>
            <a:pPr algn="l">
              <a:lnSpc>
                <a:spcPts val="3862"/>
              </a:lnSpc>
            </a:pPr>
            <a:r>
              <a:rPr lang="en-US" sz="2574">
                <a:solidFill>
                  <a:srgbClr val="FFF6DF"/>
                </a:solidFill>
                <a:latin typeface="Noto Sans"/>
                <a:ea typeface="Noto Sans"/>
                <a:cs typeface="Noto Sans"/>
                <a:sym typeface="Noto Sans"/>
              </a:rPr>
              <a:t>Khóa K52  |  GV: Bùi Võ Quốc Bảo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8924925"/>
            <a:ext cx="47625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44">
                <a:solidFill>
                  <a:srgbClr val="8F96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Cần Thơ · 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5276" y="1484376"/>
            <a:ext cx="10668000" cy="773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8"/>
              </a:lnSpc>
            </a:pPr>
            <a:r>
              <a:rPr lang="en-US" sz="5700" b="1">
                <a:solidFill>
                  <a:srgbClr val="22252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GIỚI THIỆU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2895600"/>
            <a:ext cx="8858250" cy="2279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259" lvl="1" indent="-361630" algn="l">
              <a:lnSpc>
                <a:spcPts val="4522"/>
              </a:lnSpc>
              <a:buFont typeface="Arial"/>
              <a:buChar char="•"/>
            </a:pPr>
            <a:r>
              <a:rPr lang="en-US" sz="3349">
                <a:solidFill>
                  <a:srgbClr val="22252A"/>
                </a:solidFill>
                <a:latin typeface="Noto Sans"/>
                <a:ea typeface="Noto Sans"/>
                <a:cs typeface="Noto Sans"/>
                <a:sym typeface="Noto Sans"/>
              </a:rPr>
              <a:t>Trò chơi giải đố trên bàn cờ 4 × 4. Người chơi di chuyển và ghép hai ô cùng giá trị để tạo ô gấp đôi — hướng đến 2048 trước khi hết nước đi.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0" y="1619250"/>
            <a:ext cx="4762500" cy="4762500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0480" y="0"/>
                  </a:moveTo>
                  <a:lnTo>
                    <a:pt x="6319520" y="0"/>
                  </a:lnTo>
                  <a:cubicBezTo>
                    <a:pt x="6336354" y="0"/>
                    <a:pt x="6350000" y="13646"/>
                    <a:pt x="6350000" y="30480"/>
                  </a:cubicBezTo>
                  <a:lnTo>
                    <a:pt x="6350000" y="6319520"/>
                  </a:lnTo>
                  <a:cubicBezTo>
                    <a:pt x="6350000" y="6336354"/>
                    <a:pt x="6336354" y="6350000"/>
                    <a:pt x="6319520" y="6350000"/>
                  </a:cubicBezTo>
                  <a:lnTo>
                    <a:pt x="30480" y="6350000"/>
                  </a:lnTo>
                  <a:cubicBezTo>
                    <a:pt x="13646" y="6350000"/>
                    <a:pt x="0" y="6336354"/>
                    <a:pt x="0" y="63195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ED76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61925"/>
              <a:ext cx="6350000" cy="651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549"/>
                </a:lnSpc>
              </a:pPr>
              <a:r>
                <a:rPr lang="en-US" sz="825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2048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10875" y="6715125"/>
            <a:ext cx="1381125" cy="1381125"/>
            <a:chOff x="0" y="0"/>
            <a:chExt cx="1841500" cy="1841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41500" cy="1841500"/>
            </a:xfrm>
            <a:custGeom>
              <a:avLst/>
              <a:gdLst/>
              <a:ahLst/>
              <a:cxnLst/>
              <a:rect l="l" t="t" r="r" b="b"/>
              <a:pathLst>
                <a:path w="1841500" h="1841500">
                  <a:moveTo>
                    <a:pt x="105103" y="0"/>
                  </a:moveTo>
                  <a:lnTo>
                    <a:pt x="1736397" y="0"/>
                  </a:lnTo>
                  <a:cubicBezTo>
                    <a:pt x="1794444" y="0"/>
                    <a:pt x="1841500" y="47056"/>
                    <a:pt x="1841500" y="105103"/>
                  </a:cubicBezTo>
                  <a:lnTo>
                    <a:pt x="1841500" y="1736397"/>
                  </a:lnTo>
                  <a:cubicBezTo>
                    <a:pt x="1841500" y="1794444"/>
                    <a:pt x="1794444" y="1841500"/>
                    <a:pt x="1736397" y="1841500"/>
                  </a:cubicBezTo>
                  <a:lnTo>
                    <a:pt x="105103" y="1841500"/>
                  </a:lnTo>
                  <a:cubicBezTo>
                    <a:pt x="47056" y="1841500"/>
                    <a:pt x="0" y="1794444"/>
                    <a:pt x="0" y="1736397"/>
                  </a:cubicBezTo>
                  <a:lnTo>
                    <a:pt x="0" y="105103"/>
                  </a:lnTo>
                  <a:cubicBezTo>
                    <a:pt x="0" y="47056"/>
                    <a:pt x="47056" y="0"/>
                    <a:pt x="105103" y="0"/>
                  </a:cubicBezTo>
                  <a:close/>
                </a:path>
              </a:pathLst>
            </a:custGeom>
            <a:solidFill>
              <a:srgbClr val="55B8A6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841500" cy="190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82500" y="6715125"/>
            <a:ext cx="1381125" cy="1381125"/>
            <a:chOff x="0" y="0"/>
            <a:chExt cx="1841500" cy="1841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41500" cy="1841500"/>
            </a:xfrm>
            <a:custGeom>
              <a:avLst/>
              <a:gdLst/>
              <a:ahLst/>
              <a:cxnLst/>
              <a:rect l="l" t="t" r="r" b="b"/>
              <a:pathLst>
                <a:path w="1841500" h="1841500">
                  <a:moveTo>
                    <a:pt x="105103" y="0"/>
                  </a:moveTo>
                  <a:lnTo>
                    <a:pt x="1736397" y="0"/>
                  </a:lnTo>
                  <a:cubicBezTo>
                    <a:pt x="1794444" y="0"/>
                    <a:pt x="1841500" y="47056"/>
                    <a:pt x="1841500" y="105103"/>
                  </a:cubicBezTo>
                  <a:lnTo>
                    <a:pt x="1841500" y="1736397"/>
                  </a:lnTo>
                  <a:cubicBezTo>
                    <a:pt x="1841500" y="1794444"/>
                    <a:pt x="1794444" y="1841500"/>
                    <a:pt x="1736397" y="1841500"/>
                  </a:cubicBezTo>
                  <a:lnTo>
                    <a:pt x="105103" y="1841500"/>
                  </a:lnTo>
                  <a:cubicBezTo>
                    <a:pt x="47056" y="1841500"/>
                    <a:pt x="0" y="1794444"/>
                    <a:pt x="0" y="1736397"/>
                  </a:cubicBezTo>
                  <a:lnTo>
                    <a:pt x="0" y="105103"/>
                  </a:lnTo>
                  <a:cubicBezTo>
                    <a:pt x="0" y="47056"/>
                    <a:pt x="47056" y="0"/>
                    <a:pt x="105103" y="0"/>
                  </a:cubicBezTo>
                  <a:close/>
                </a:path>
              </a:pathLst>
            </a:custGeom>
            <a:solidFill>
              <a:srgbClr val="F6B44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841500" cy="190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954125" y="6715125"/>
            <a:ext cx="1381125" cy="1381125"/>
            <a:chOff x="0" y="0"/>
            <a:chExt cx="1841500" cy="1841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41500" cy="1841500"/>
            </a:xfrm>
            <a:custGeom>
              <a:avLst/>
              <a:gdLst/>
              <a:ahLst/>
              <a:cxnLst/>
              <a:rect l="l" t="t" r="r" b="b"/>
              <a:pathLst>
                <a:path w="1841500" h="1841500">
                  <a:moveTo>
                    <a:pt x="105103" y="0"/>
                  </a:moveTo>
                  <a:lnTo>
                    <a:pt x="1736397" y="0"/>
                  </a:lnTo>
                  <a:cubicBezTo>
                    <a:pt x="1794444" y="0"/>
                    <a:pt x="1841500" y="47056"/>
                    <a:pt x="1841500" y="105103"/>
                  </a:cubicBezTo>
                  <a:lnTo>
                    <a:pt x="1841500" y="1736397"/>
                  </a:lnTo>
                  <a:cubicBezTo>
                    <a:pt x="1841500" y="1794444"/>
                    <a:pt x="1794444" y="1841500"/>
                    <a:pt x="1736397" y="1841500"/>
                  </a:cubicBezTo>
                  <a:lnTo>
                    <a:pt x="105103" y="1841500"/>
                  </a:lnTo>
                  <a:cubicBezTo>
                    <a:pt x="47056" y="1841500"/>
                    <a:pt x="0" y="1794444"/>
                    <a:pt x="0" y="1736397"/>
                  </a:cubicBezTo>
                  <a:lnTo>
                    <a:pt x="0" y="105103"/>
                  </a:lnTo>
                  <a:cubicBezTo>
                    <a:pt x="0" y="47056"/>
                    <a:pt x="47056" y="0"/>
                    <a:pt x="105103" y="0"/>
                  </a:cubicBezTo>
                  <a:close/>
                </a:path>
              </a:pathLst>
            </a:custGeom>
            <a:solidFill>
              <a:srgbClr val="7A6EE6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841500" cy="190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8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5816917"/>
            <a:ext cx="8858250" cy="113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259" lvl="1" indent="-361630" algn="l">
              <a:lnSpc>
                <a:spcPts val="4522"/>
              </a:lnSpc>
              <a:buFont typeface="Arial"/>
              <a:buChar char="•"/>
            </a:pPr>
            <a:r>
              <a:rPr lang="en-US" sz="3349">
                <a:solidFill>
                  <a:srgbClr val="22252A"/>
                </a:solidFill>
                <a:latin typeface="Noto Sans"/>
                <a:ea typeface="Noto Sans"/>
                <a:cs typeface="Noto Sans"/>
                <a:sym typeface="Noto Sans"/>
              </a:rPr>
              <a:t>Xây dựng trò chơi thành một ứng dụng web có thể mở trực tiếp trên trình duyệt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9491" y="1543050"/>
            <a:ext cx="5756412" cy="752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1" spc="359">
                <a:solidFill>
                  <a:srgbClr val="ED765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 TIÊU DỰ ÁN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3615" y="2599761"/>
            <a:ext cx="10502229" cy="7516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5439" lvl="1" indent="-397720" algn="l">
              <a:lnSpc>
                <a:spcPts val="4973"/>
              </a:lnSpc>
              <a:buFont typeface="Arial"/>
              <a:buChar char="•"/>
            </a:pPr>
            <a:r>
              <a:rPr lang="en-US" sz="3684">
                <a:solidFill>
                  <a:srgbClr val="22252A"/>
                </a:solidFill>
                <a:latin typeface="Noto Sans"/>
                <a:ea typeface="Noto Sans"/>
                <a:cs typeface="Noto Sans"/>
                <a:sym typeface="Noto Sans"/>
              </a:rPr>
              <a:t>Trải nghiệm dễ hiểu, thao tác tốt trên máy tính lẫn cảm ứng</a:t>
            </a:r>
          </a:p>
          <a:p>
            <a:pPr marL="795439" lvl="1" indent="-397720" algn="l">
              <a:lnSpc>
                <a:spcPts val="4973"/>
              </a:lnSpc>
              <a:buFont typeface="Arial"/>
              <a:buChar char="•"/>
            </a:pPr>
            <a:r>
              <a:rPr lang="en-US" sz="3684">
                <a:solidFill>
                  <a:srgbClr val="22252A"/>
                </a:solidFill>
                <a:latin typeface="Noto Sans"/>
                <a:ea typeface="Noto Sans"/>
                <a:cs typeface="Noto Sans"/>
                <a:sym typeface="Noto Sans"/>
              </a:rPr>
              <a:t>Thực hành HTML, CSS, JavaScript, quản lý trạng thái, sự kiện và lưu dữ liệu.</a:t>
            </a:r>
          </a:p>
          <a:p>
            <a:pPr marL="795439" lvl="1" indent="-397720" algn="l">
              <a:lnSpc>
                <a:spcPts val="4973"/>
              </a:lnSpc>
              <a:buFont typeface="Arial"/>
              <a:buChar char="•"/>
            </a:pPr>
            <a:r>
              <a:rPr lang="en-US" sz="3684">
                <a:solidFill>
                  <a:srgbClr val="22252A"/>
                </a:solidFill>
                <a:latin typeface="Noto Sans"/>
                <a:ea typeface="Noto Sans"/>
                <a:cs typeface="Noto Sans"/>
                <a:sym typeface="Noto Sans"/>
              </a:rPr>
              <a:t>Chia việc phát triển thành các phần có thể mô tả và kiểm tra; ghi nhận thay đổi bằng Git.</a:t>
            </a:r>
          </a:p>
          <a:p>
            <a:pPr marL="795439" lvl="1" indent="-397720" algn="l">
              <a:lnSpc>
                <a:spcPts val="4973"/>
              </a:lnSpc>
              <a:buFont typeface="Arial"/>
              <a:buChar char="•"/>
            </a:pPr>
            <a:r>
              <a:rPr lang="en-US" sz="3684">
                <a:solidFill>
                  <a:srgbClr val="22252A"/>
                </a:solidFill>
                <a:latin typeface="Noto Sans"/>
                <a:ea typeface="Noto Sans"/>
                <a:cs typeface="Noto Sans"/>
                <a:sym typeface="Noto Sans"/>
              </a:rPr>
              <a:t>Trình bày rõ tính năng đã triển khai, giới hạn của sản phẩm và quá trình làm việc của nhóm.</a:t>
            </a:r>
          </a:p>
          <a:p>
            <a:pPr algn="l">
              <a:lnSpc>
                <a:spcPts val="4973"/>
              </a:lnSpc>
            </a:pPr>
            <a:endParaRPr lang="en-US" sz="3684">
              <a:solidFill>
                <a:srgbClr val="22252A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973"/>
              </a:lnSpc>
            </a:pPr>
            <a:endParaRPr lang="en-US" sz="3684">
              <a:solidFill>
                <a:srgbClr val="22252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2192000" y="1619250"/>
            <a:ext cx="4762500" cy="4762500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0480" y="0"/>
                  </a:moveTo>
                  <a:lnTo>
                    <a:pt x="6319520" y="0"/>
                  </a:lnTo>
                  <a:cubicBezTo>
                    <a:pt x="6336354" y="0"/>
                    <a:pt x="6350000" y="13646"/>
                    <a:pt x="6350000" y="30480"/>
                  </a:cubicBezTo>
                  <a:lnTo>
                    <a:pt x="6350000" y="6319520"/>
                  </a:lnTo>
                  <a:cubicBezTo>
                    <a:pt x="6350000" y="6336354"/>
                    <a:pt x="6336354" y="6350000"/>
                    <a:pt x="6319520" y="6350000"/>
                  </a:cubicBezTo>
                  <a:lnTo>
                    <a:pt x="30480" y="6350000"/>
                  </a:lnTo>
                  <a:cubicBezTo>
                    <a:pt x="13646" y="6350000"/>
                    <a:pt x="0" y="6336354"/>
                    <a:pt x="0" y="63195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ED76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61925"/>
              <a:ext cx="6350000" cy="651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549"/>
                </a:lnSpc>
              </a:pPr>
              <a:r>
                <a:rPr lang="en-US" sz="825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2048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10875" y="6715125"/>
            <a:ext cx="1381125" cy="1381125"/>
            <a:chOff x="0" y="0"/>
            <a:chExt cx="1841500" cy="1841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41500" cy="1841500"/>
            </a:xfrm>
            <a:custGeom>
              <a:avLst/>
              <a:gdLst/>
              <a:ahLst/>
              <a:cxnLst/>
              <a:rect l="l" t="t" r="r" b="b"/>
              <a:pathLst>
                <a:path w="1841500" h="1841500">
                  <a:moveTo>
                    <a:pt x="105103" y="0"/>
                  </a:moveTo>
                  <a:lnTo>
                    <a:pt x="1736397" y="0"/>
                  </a:lnTo>
                  <a:cubicBezTo>
                    <a:pt x="1794444" y="0"/>
                    <a:pt x="1841500" y="47056"/>
                    <a:pt x="1841500" y="105103"/>
                  </a:cubicBezTo>
                  <a:lnTo>
                    <a:pt x="1841500" y="1736397"/>
                  </a:lnTo>
                  <a:cubicBezTo>
                    <a:pt x="1841500" y="1794444"/>
                    <a:pt x="1794444" y="1841500"/>
                    <a:pt x="1736397" y="1841500"/>
                  </a:cubicBezTo>
                  <a:lnTo>
                    <a:pt x="105103" y="1841500"/>
                  </a:lnTo>
                  <a:cubicBezTo>
                    <a:pt x="47056" y="1841500"/>
                    <a:pt x="0" y="1794444"/>
                    <a:pt x="0" y="1736397"/>
                  </a:cubicBezTo>
                  <a:lnTo>
                    <a:pt x="0" y="105103"/>
                  </a:lnTo>
                  <a:cubicBezTo>
                    <a:pt x="0" y="47056"/>
                    <a:pt x="47056" y="0"/>
                    <a:pt x="105103" y="0"/>
                  </a:cubicBezTo>
                  <a:close/>
                </a:path>
              </a:pathLst>
            </a:custGeom>
            <a:solidFill>
              <a:srgbClr val="55B8A6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841500" cy="190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82500" y="6715125"/>
            <a:ext cx="1381125" cy="1381125"/>
            <a:chOff x="0" y="0"/>
            <a:chExt cx="1841500" cy="1841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41500" cy="1841500"/>
            </a:xfrm>
            <a:custGeom>
              <a:avLst/>
              <a:gdLst/>
              <a:ahLst/>
              <a:cxnLst/>
              <a:rect l="l" t="t" r="r" b="b"/>
              <a:pathLst>
                <a:path w="1841500" h="1841500">
                  <a:moveTo>
                    <a:pt x="105103" y="0"/>
                  </a:moveTo>
                  <a:lnTo>
                    <a:pt x="1736397" y="0"/>
                  </a:lnTo>
                  <a:cubicBezTo>
                    <a:pt x="1794444" y="0"/>
                    <a:pt x="1841500" y="47056"/>
                    <a:pt x="1841500" y="105103"/>
                  </a:cubicBezTo>
                  <a:lnTo>
                    <a:pt x="1841500" y="1736397"/>
                  </a:lnTo>
                  <a:cubicBezTo>
                    <a:pt x="1841500" y="1794444"/>
                    <a:pt x="1794444" y="1841500"/>
                    <a:pt x="1736397" y="1841500"/>
                  </a:cubicBezTo>
                  <a:lnTo>
                    <a:pt x="105103" y="1841500"/>
                  </a:lnTo>
                  <a:cubicBezTo>
                    <a:pt x="47056" y="1841500"/>
                    <a:pt x="0" y="1794444"/>
                    <a:pt x="0" y="1736397"/>
                  </a:cubicBezTo>
                  <a:lnTo>
                    <a:pt x="0" y="105103"/>
                  </a:lnTo>
                  <a:cubicBezTo>
                    <a:pt x="0" y="47056"/>
                    <a:pt x="47056" y="0"/>
                    <a:pt x="105103" y="0"/>
                  </a:cubicBezTo>
                  <a:close/>
                </a:path>
              </a:pathLst>
            </a:custGeom>
            <a:solidFill>
              <a:srgbClr val="F6B44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841500" cy="190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954125" y="6715125"/>
            <a:ext cx="1381125" cy="1381125"/>
            <a:chOff x="0" y="0"/>
            <a:chExt cx="1841500" cy="1841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41500" cy="1841500"/>
            </a:xfrm>
            <a:custGeom>
              <a:avLst/>
              <a:gdLst/>
              <a:ahLst/>
              <a:cxnLst/>
              <a:rect l="l" t="t" r="r" b="b"/>
              <a:pathLst>
                <a:path w="1841500" h="1841500">
                  <a:moveTo>
                    <a:pt x="105103" y="0"/>
                  </a:moveTo>
                  <a:lnTo>
                    <a:pt x="1736397" y="0"/>
                  </a:lnTo>
                  <a:cubicBezTo>
                    <a:pt x="1794444" y="0"/>
                    <a:pt x="1841500" y="47056"/>
                    <a:pt x="1841500" y="105103"/>
                  </a:cubicBezTo>
                  <a:lnTo>
                    <a:pt x="1841500" y="1736397"/>
                  </a:lnTo>
                  <a:cubicBezTo>
                    <a:pt x="1841500" y="1794444"/>
                    <a:pt x="1794444" y="1841500"/>
                    <a:pt x="1736397" y="1841500"/>
                  </a:cubicBezTo>
                  <a:lnTo>
                    <a:pt x="105103" y="1841500"/>
                  </a:lnTo>
                  <a:cubicBezTo>
                    <a:pt x="47056" y="1841500"/>
                    <a:pt x="0" y="1794444"/>
                    <a:pt x="0" y="1736397"/>
                  </a:cubicBezTo>
                  <a:lnTo>
                    <a:pt x="0" y="105103"/>
                  </a:lnTo>
                  <a:cubicBezTo>
                    <a:pt x="0" y="47056"/>
                    <a:pt x="47056" y="0"/>
                    <a:pt x="105103" y="0"/>
                  </a:cubicBezTo>
                  <a:close/>
                </a:path>
              </a:pathLst>
            </a:custGeom>
            <a:solidFill>
              <a:srgbClr val="7A6EE6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841500" cy="190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5503366"/>
            <a:ext cx="5429250" cy="4231556"/>
          </a:xfrm>
          <a:prstGeom prst="roundRect">
            <a:avLst>
              <a:gd name="adj" fmla="val 5402"/>
            </a:avLst>
          </a:prstGeom>
          <a:solidFill>
            <a:srgbClr val="F2ECE4"/>
          </a:solidFill>
          <a:ln w="9525">
            <a:solidFill>
              <a:srgbClr val="E5D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ounded Rectangle 2"/>
          <p:cNvSpPr/>
          <p:nvPr/>
        </p:nvSpPr>
        <p:spPr>
          <a:xfrm>
            <a:off x="6764279" y="2054386"/>
            <a:ext cx="10572750" cy="2391593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EB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4" name="Rounded Rectangle 3"/>
          <p:cNvSpPr/>
          <p:nvPr/>
        </p:nvSpPr>
        <p:spPr>
          <a:xfrm>
            <a:off x="6800850" y="4694560"/>
            <a:ext cx="10572750" cy="2391593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EB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5" name="Rounded Rectangle 4"/>
          <p:cNvSpPr/>
          <p:nvPr/>
        </p:nvSpPr>
        <p:spPr>
          <a:xfrm>
            <a:off x="6800850" y="7314754"/>
            <a:ext cx="10572750" cy="2420168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9525">
            <a:solidFill>
              <a:srgbClr val="EB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4365"/>
            <a:ext cx="5429250" cy="3143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2088653"/>
            <a:ext cx="5414962" cy="312291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038" y="2374403"/>
            <a:ext cx="514350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038" y="4994597"/>
            <a:ext cx="514350" cy="51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038" y="7614791"/>
            <a:ext cx="514350" cy="514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0906" y="2502990"/>
            <a:ext cx="328613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5123184"/>
            <a:ext cx="200025" cy="257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0906" y="7743378"/>
            <a:ext cx="328613" cy="2571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1057276"/>
            <a:ext cx="11136254" cy="6283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860"/>
              </a:lnSpc>
            </a:pPr>
            <a:r>
              <a:rPr sz="4050" b="1">
                <a:solidFill>
                  <a:srgbClr val="3D332A"/>
                </a:solidFill>
                <a:latin typeface="Plus Jakarta Sans"/>
              </a:rPr>
              <a:t>Kiến Trúc &amp; Tính Năng Ứng Dụng Game 2048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560" y="6683201"/>
            <a:ext cx="1990930" cy="782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75"/>
              </a:lnSpc>
            </a:pPr>
            <a:r>
              <a:rPr sz="6075" b="1">
                <a:solidFill>
                  <a:srgbClr val="0F172A"/>
                </a:solidFill>
                <a:latin typeface="Plus Jakarta Sans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5064" y="7569026"/>
            <a:ext cx="2947922" cy="311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25" b="1">
                <a:solidFill>
                  <a:srgbClr val="463A32"/>
                </a:solidFill>
                <a:latin typeface="Plus Jakarta Sans"/>
              </a:rPr>
              <a:t>Client-Side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227" y="7954789"/>
            <a:ext cx="5893593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63"/>
              </a:lnSpc>
            </a:pPr>
            <a:r>
              <a:rPr sz="1688">
                <a:solidFill>
                  <a:srgbClr val="776E65"/>
                </a:solidFill>
                <a:latin typeface="Plus Jakarta Sans"/>
              </a:rPr>
              <a:t>Chạy hoàn toàn trên trình duyệt người dùng, không phụ thuộc máy chủ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911" y="2349875"/>
            <a:ext cx="387445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smtClean="0">
                <a:solidFill>
                  <a:srgbClr val="3D33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 Chế &amp; Điều Khiển</a:t>
            </a:r>
            <a:endParaRPr sz="3200" b="1">
              <a:solidFill>
                <a:srgbClr val="3D33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72350" y="3030200"/>
            <a:ext cx="86562" cy="294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13">
                <a:solidFill>
                  <a:srgbClr val="574B41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0938" y="3031628"/>
            <a:ext cx="6331093" cy="346249"/>
          </a:xfrm>
          <a:prstGeom prst="rect">
            <a:avLst/>
          </a:prstGeom>
          <a:noFill/>
        </p:spPr>
        <p:txBody>
          <a:bodyPr wrap="none" lIns="128588" tIns="0" rIns="0" bIns="0" anchor="t">
            <a:spAutoFit/>
          </a:bodyPr>
          <a:lstStyle/>
          <a:p>
            <a:pPr>
              <a:lnSpc>
                <a:spcPts val="2678"/>
              </a:lnSpc>
            </a:pPr>
            <a:r>
              <a:rPr sz="2400" b="1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Bàn cờ 4×4:</a:t>
            </a:r>
            <a:r>
              <a:rPr sz="2400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Tự động ghép ô và tính điểm liên tục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2350" y="3427347"/>
            <a:ext cx="86562" cy="294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13">
                <a:solidFill>
                  <a:srgbClr val="574B41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0938" y="3428777"/>
            <a:ext cx="7013138" cy="346249"/>
          </a:xfrm>
          <a:prstGeom prst="rect">
            <a:avLst/>
          </a:prstGeom>
          <a:noFill/>
        </p:spPr>
        <p:txBody>
          <a:bodyPr wrap="none" lIns="128588" tIns="0" rIns="0" bIns="0" anchor="t">
            <a:spAutoFit/>
          </a:bodyPr>
          <a:lstStyle/>
          <a:p>
            <a:pPr>
              <a:lnSpc>
                <a:spcPts val="2678"/>
              </a:lnSpc>
            </a:pPr>
            <a:r>
              <a:rPr sz="2400" b="1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 tác:</a:t>
            </a:r>
            <a:r>
              <a:rPr sz="2400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Điều khiển linh hoạt qua bàn phím hoặc vuốt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2350" y="3824495"/>
            <a:ext cx="86562" cy="294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13">
                <a:solidFill>
                  <a:srgbClr val="574B41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0938" y="3825925"/>
            <a:ext cx="6498190" cy="346249"/>
          </a:xfrm>
          <a:prstGeom prst="rect">
            <a:avLst/>
          </a:prstGeom>
          <a:noFill/>
        </p:spPr>
        <p:txBody>
          <a:bodyPr wrap="none" lIns="128588" tIns="0" rIns="0" bIns="0" anchor="t">
            <a:spAutoFit/>
          </a:bodyPr>
          <a:lstStyle/>
          <a:p>
            <a:pPr>
              <a:lnSpc>
                <a:spcPts val="2678"/>
              </a:lnSpc>
            </a:pPr>
            <a:r>
              <a:rPr sz="2400" b="1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 thái:</a:t>
            </a:r>
            <a:r>
              <a:rPr sz="2400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Xử lý thắng/thua, chơi lại hoặc tiếp tục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3838" y="5073179"/>
            <a:ext cx="4521046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D33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Diện &amp; Trải Nghiệm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2350" y="5650394"/>
            <a:ext cx="86562" cy="294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13">
                <a:solidFill>
                  <a:srgbClr val="574B41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0938" y="5651822"/>
            <a:ext cx="6606810" cy="346249"/>
          </a:xfrm>
          <a:prstGeom prst="rect">
            <a:avLst/>
          </a:prstGeom>
          <a:noFill/>
        </p:spPr>
        <p:txBody>
          <a:bodyPr wrap="none" lIns="128588" tIns="0" rIns="0" bIns="0" anchor="t">
            <a:spAutoFit/>
          </a:bodyPr>
          <a:lstStyle/>
          <a:p>
            <a:pPr>
              <a:lnSpc>
                <a:spcPts val="2678"/>
              </a:lnSpc>
            </a:pPr>
            <a:r>
              <a:rPr sz="2400" b="1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 thích:</a:t>
            </a:r>
            <a:r>
              <a:rPr sz="2400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Tối ưu hiển thị cho mọi màn hình nhỏ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2350" y="6047541"/>
            <a:ext cx="86562" cy="294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13">
                <a:solidFill>
                  <a:srgbClr val="574B41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0938" y="6048970"/>
            <a:ext cx="6944210" cy="346249"/>
          </a:xfrm>
          <a:prstGeom prst="rect">
            <a:avLst/>
          </a:prstGeom>
          <a:noFill/>
        </p:spPr>
        <p:txBody>
          <a:bodyPr wrap="none" lIns="128588" tIns="0" rIns="0" bIns="0" anchor="t">
            <a:spAutoFit/>
          </a:bodyPr>
          <a:lstStyle/>
          <a:p>
            <a:pPr>
              <a:lnSpc>
                <a:spcPts val="2678"/>
              </a:lnSpc>
            </a:pPr>
            <a:r>
              <a:rPr sz="2400" b="1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ảnh:</a:t>
            </a:r>
            <a:r>
              <a:rPr sz="2400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Hiệu ứng mượt mà tăng trải nghiệm thị giác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2350" y="6444689"/>
            <a:ext cx="86562" cy="294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13">
                <a:solidFill>
                  <a:srgbClr val="574B41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0938" y="6446119"/>
            <a:ext cx="7493270" cy="346249"/>
          </a:xfrm>
          <a:prstGeom prst="rect">
            <a:avLst/>
          </a:prstGeom>
          <a:noFill/>
        </p:spPr>
        <p:txBody>
          <a:bodyPr wrap="none" lIns="128588" tIns="0" rIns="0" bIns="0" anchor="t">
            <a:spAutoFit/>
          </a:bodyPr>
          <a:lstStyle/>
          <a:p>
            <a:pPr>
              <a:lnSpc>
                <a:spcPts val="2678"/>
              </a:lnSpc>
            </a:pPr>
            <a:r>
              <a:rPr sz="2400" b="1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 trợ:</a:t>
            </a:r>
            <a:r>
              <a:rPr sz="2400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Tích hợp khả năng truy cập cho trình đọc màn hình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3838" y="7693372"/>
            <a:ext cx="3921523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D33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 Nguồn &amp; Lưu Trữ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2350" y="8270586"/>
            <a:ext cx="86562" cy="294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13">
                <a:solidFill>
                  <a:srgbClr val="574B41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0938" y="8272016"/>
            <a:ext cx="6339877" cy="346249"/>
          </a:xfrm>
          <a:prstGeom prst="rect">
            <a:avLst/>
          </a:prstGeom>
          <a:noFill/>
        </p:spPr>
        <p:txBody>
          <a:bodyPr wrap="none" lIns="128588" tIns="0" rIns="0" bIns="0" anchor="t">
            <a:spAutoFit/>
          </a:bodyPr>
          <a:lstStyle/>
          <a:p>
            <a:pPr>
              <a:lnSpc>
                <a:spcPts val="2678"/>
              </a:lnSpc>
            </a:pPr>
            <a:r>
              <a:rPr sz="2400" b="1" smtClean="0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trúc:</a:t>
            </a:r>
            <a:r>
              <a:rPr sz="2400" smtClean="0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Đóng gói trọn vẹn trong file index.html</a:t>
            </a:r>
            <a:endParaRPr sz="2400">
              <a:solidFill>
                <a:srgbClr val="574B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72350" y="8682023"/>
            <a:ext cx="86562" cy="294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13">
                <a:solidFill>
                  <a:srgbClr val="574B41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0938" y="8683451"/>
            <a:ext cx="6888104" cy="346249"/>
          </a:xfrm>
          <a:prstGeom prst="rect">
            <a:avLst/>
          </a:prstGeom>
          <a:noFill/>
        </p:spPr>
        <p:txBody>
          <a:bodyPr wrap="none" lIns="128588" tIns="0" rIns="0" bIns="0" anchor="t">
            <a:spAutoFit/>
          </a:bodyPr>
          <a:lstStyle/>
          <a:p>
            <a:pPr>
              <a:lnSpc>
                <a:spcPts val="2678"/>
              </a:lnSpc>
            </a:pPr>
            <a:r>
              <a:rPr sz="2400" b="1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nghệ:</a:t>
            </a:r>
            <a:r>
              <a:rPr sz="2400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Sử dụng thuần HTML, CSS và JavaScript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2350" y="9079170"/>
            <a:ext cx="86562" cy="294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13">
                <a:solidFill>
                  <a:srgbClr val="574B41"/>
                </a:solidFill>
                <a:latin typeface="Plus Jakarta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0938" y="9080599"/>
            <a:ext cx="5637762" cy="346249"/>
          </a:xfrm>
          <a:prstGeom prst="rect">
            <a:avLst/>
          </a:prstGeom>
          <a:noFill/>
        </p:spPr>
        <p:txBody>
          <a:bodyPr wrap="none" lIns="128588" tIns="0" rIns="0" bIns="0" anchor="t">
            <a:spAutoFit/>
          </a:bodyPr>
          <a:lstStyle/>
          <a:p>
            <a:pPr>
              <a:lnSpc>
                <a:spcPts val="2678"/>
              </a:lnSpc>
            </a:pPr>
            <a:r>
              <a:rPr sz="2400" b="1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 liệu:</a:t>
            </a:r>
            <a:r>
              <a:rPr sz="2400">
                <a:solidFill>
                  <a:srgbClr val="574B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Lưu kỷ lục cục bộ qua localStorage</a:t>
            </a:r>
          </a:p>
        </p:txBody>
      </p:sp>
    </p:spTree>
    <p:extLst>
      <p:ext uri="{BB962C8B-B14F-4D97-AF65-F5344CB8AC3E}">
        <p14:creationId xmlns:p14="http://schemas.microsoft.com/office/powerpoint/2010/main" val="13300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70055" y="2202832"/>
            <a:ext cx="8592699" cy="1501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74"/>
              </a:lnSpc>
            </a:pPr>
            <a:r>
              <a:rPr lang="en-US" sz="10930" b="1" spc="-106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Bàn cờ và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7752" y="3705616"/>
            <a:ext cx="10334113" cy="1440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56"/>
              </a:lnSpc>
            </a:pPr>
            <a:r>
              <a:rPr lang="en-US" sz="10436" b="1" spc="-101">
                <a:solidFill>
                  <a:srgbClr val="F0C15F"/>
                </a:solidFill>
                <a:latin typeface="Roboto Bold"/>
                <a:ea typeface="Roboto Bold"/>
                <a:cs typeface="Roboto Bold"/>
                <a:sym typeface="Roboto Bold"/>
              </a:rPr>
              <a:t>ô khởi đầu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7695" y="5649444"/>
            <a:ext cx="4276626" cy="44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3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Bàn cờ gồm 16 ô vuông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0858" y="6462730"/>
            <a:ext cx="7960292" cy="44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3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Khi bắt đầu ván, trò chơi sinh ngẫu nhiên 2 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2418" y="7291076"/>
            <a:ext cx="4804286" cy="44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3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Ô mới có giá trị là 2 hoặc 4</a:t>
            </a:r>
          </a:p>
        </p:txBody>
      </p:sp>
      <p:sp>
        <p:nvSpPr>
          <p:cNvPr id="8" name="Freeform 8"/>
          <p:cNvSpPr/>
          <p:nvPr/>
        </p:nvSpPr>
        <p:spPr>
          <a:xfrm>
            <a:off x="10008086" y="1279043"/>
            <a:ext cx="7415828" cy="7510275"/>
          </a:xfrm>
          <a:custGeom>
            <a:avLst/>
            <a:gdLst/>
            <a:ahLst/>
            <a:cxnLst/>
            <a:rect l="l" t="t" r="r" b="b"/>
            <a:pathLst>
              <a:path w="7415828" h="7510275">
                <a:moveTo>
                  <a:pt x="0" y="0"/>
                </a:moveTo>
                <a:lnTo>
                  <a:pt x="7415828" y="0"/>
                </a:lnTo>
                <a:lnTo>
                  <a:pt x="7415828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26842" y="1497682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965952" y="1497682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628820" y="2088241"/>
            <a:ext cx="411103" cy="7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1"/>
              </a:lnSpc>
            </a:pPr>
            <a:r>
              <a:rPr lang="en-US" sz="5554" b="1" spc="-54">
                <a:solidFill>
                  <a:srgbClr val="363633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26842" y="3214004"/>
            <a:ext cx="1750048" cy="1934962"/>
          </a:xfrm>
          <a:custGeom>
            <a:avLst/>
            <a:gdLst/>
            <a:ahLst/>
            <a:cxnLst/>
            <a:rect l="l" t="t" r="r" b="b"/>
            <a:pathLst>
              <a:path w="1750048" h="1934962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965952" y="3214004"/>
            <a:ext cx="1750048" cy="1934962"/>
          </a:xfrm>
          <a:custGeom>
            <a:avLst/>
            <a:gdLst/>
            <a:ahLst/>
            <a:cxnLst/>
            <a:rect l="l" t="t" r="r" b="b"/>
            <a:pathLst>
              <a:path w="1750048" h="1934962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716000" y="1497682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236354" y="1497682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226842" y="4919394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965952" y="4919394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716000" y="4919394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236354" y="4919394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977453" y="5522113"/>
            <a:ext cx="411103" cy="7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1"/>
              </a:lnSpc>
            </a:pPr>
            <a:r>
              <a:rPr lang="en-US" sz="5554" b="1" spc="-54">
                <a:solidFill>
                  <a:srgbClr val="363633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26842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965952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71600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236354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58457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12708" y="1071335"/>
            <a:ext cx="10675292" cy="9215665"/>
          </a:xfrm>
          <a:custGeom>
            <a:avLst/>
            <a:gdLst/>
            <a:ahLst/>
            <a:cxnLst/>
            <a:rect l="l" t="t" r="r" b="b"/>
            <a:pathLst>
              <a:path w="10675292" h="9215665">
                <a:moveTo>
                  <a:pt x="0" y="0"/>
                </a:moveTo>
                <a:lnTo>
                  <a:pt x="10675292" y="0"/>
                </a:lnTo>
                <a:lnTo>
                  <a:pt x="10675292" y="9215665"/>
                </a:lnTo>
                <a:lnTo>
                  <a:pt x="0" y="921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84099" y="1434594"/>
            <a:ext cx="8336101" cy="1256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96"/>
              </a:lnSpc>
            </a:pPr>
            <a:r>
              <a:rPr lang="en-US" sz="9496" b="1" spc="-92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Di chuyển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4879" y="2699705"/>
            <a:ext cx="8573921" cy="1256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96"/>
              </a:lnSpc>
            </a:pPr>
            <a:r>
              <a:rPr lang="en-US" sz="9496" b="1" spc="-92">
                <a:solidFill>
                  <a:srgbClr val="F2C25C"/>
                </a:solidFill>
                <a:latin typeface="Roboto Bold"/>
                <a:ea typeface="Roboto Bold"/>
                <a:cs typeface="Roboto Bold"/>
                <a:sym typeface="Roboto Bold"/>
              </a:rPr>
              <a:t>trong game</a:t>
            </a:r>
          </a:p>
        </p:txBody>
      </p:sp>
      <p:sp>
        <p:nvSpPr>
          <p:cNvPr id="6" name="Freeform 6"/>
          <p:cNvSpPr/>
          <p:nvPr/>
        </p:nvSpPr>
        <p:spPr>
          <a:xfrm>
            <a:off x="864086" y="4493047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18989" y="4429577"/>
            <a:ext cx="5664665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64"/>
              </a:lnSpc>
            </a:pPr>
            <a:r>
              <a:rPr lang="en-US" sz="3403" spc="-33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Dùng </a:t>
            </a:r>
            <a:r>
              <a:rPr lang="en-US" sz="3403" b="1" spc="-33">
                <a:solidFill>
                  <a:srgbClr val="F2C25C"/>
                </a:solidFill>
                <a:latin typeface="Roboto Bold"/>
                <a:ea typeface="Roboto Bold"/>
                <a:cs typeface="Roboto Bold"/>
                <a:sym typeface="Roboto Bold"/>
              </a:rPr>
              <a:t>phím mũi tên </a:t>
            </a:r>
            <a:r>
              <a:rPr lang="en-US" sz="3403" spc="-33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hoặc</a:t>
            </a:r>
          </a:p>
          <a:p>
            <a:pPr algn="l">
              <a:lnSpc>
                <a:spcPts val="4764"/>
              </a:lnSpc>
            </a:pPr>
            <a:r>
              <a:rPr lang="en-US" sz="3403" spc="-33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WASD trên bàn phím</a:t>
            </a:r>
          </a:p>
        </p:txBody>
      </p:sp>
      <p:sp>
        <p:nvSpPr>
          <p:cNvPr id="8" name="Freeform 8"/>
          <p:cNvSpPr/>
          <p:nvPr/>
        </p:nvSpPr>
        <p:spPr>
          <a:xfrm>
            <a:off x="864086" y="6209369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14612" y="6146513"/>
            <a:ext cx="607678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64"/>
              </a:lnSpc>
            </a:pPr>
            <a:r>
              <a:rPr lang="en-US" sz="3403" spc="-33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Trên thiết bị cảm ứng, </a:t>
            </a:r>
            <a:r>
              <a:rPr lang="en-US" sz="3403" b="1" spc="-33">
                <a:solidFill>
                  <a:srgbClr val="F2C25C"/>
                </a:solidFill>
                <a:latin typeface="Roboto Bold"/>
                <a:ea typeface="Roboto Bold"/>
                <a:cs typeface="Roboto Bold"/>
                <a:sym typeface="Roboto Bold"/>
              </a:rPr>
              <a:t>vuốt</a:t>
            </a:r>
          </a:p>
          <a:p>
            <a:pPr algn="l">
              <a:lnSpc>
                <a:spcPts val="4764"/>
              </a:lnSpc>
            </a:pPr>
            <a:r>
              <a:rPr lang="en-US" sz="3403" spc="-33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trên bàn cờ để chọn hướng</a:t>
            </a:r>
          </a:p>
        </p:txBody>
      </p:sp>
      <p:sp>
        <p:nvSpPr>
          <p:cNvPr id="10" name="Freeform 10"/>
          <p:cNvSpPr/>
          <p:nvPr/>
        </p:nvSpPr>
        <p:spPr>
          <a:xfrm>
            <a:off x="864086" y="7925691"/>
            <a:ext cx="229694" cy="1289974"/>
          </a:xfrm>
          <a:custGeom>
            <a:avLst/>
            <a:gdLst/>
            <a:ahLst/>
            <a:cxnLst/>
            <a:rect l="l" t="t" r="r" b="b"/>
            <a:pathLst>
              <a:path w="229694" h="128997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09501" y="7893570"/>
            <a:ext cx="5674154" cy="116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4"/>
              </a:lnSpc>
            </a:pPr>
            <a:r>
              <a:rPr lang="en-US" sz="3403" b="1" spc="-33">
                <a:solidFill>
                  <a:srgbClr val="F2C25C"/>
                </a:solidFill>
                <a:latin typeface="Roboto Bold"/>
                <a:ea typeface="Roboto Bold"/>
                <a:cs typeface="Roboto Bold"/>
                <a:sym typeface="Roboto Bold"/>
              </a:rPr>
              <a:t>Vuốt ngắn </a:t>
            </a:r>
            <a:r>
              <a:rPr lang="en-US" sz="3403" spc="-33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hơn ngưỡng</a:t>
            </a:r>
          </a:p>
          <a:p>
            <a:pPr algn="l">
              <a:lnSpc>
                <a:spcPts val="4764"/>
              </a:lnSpc>
            </a:pPr>
            <a:r>
              <a:rPr lang="en-US" sz="3403" spc="-33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nhận diện sẽ không được tính</a:t>
            </a:r>
          </a:p>
        </p:txBody>
      </p:sp>
    </p:spTree>
    <p:extLst>
      <p:ext uri="{BB962C8B-B14F-4D97-AF65-F5344CB8AC3E}">
        <p14:creationId xmlns:p14="http://schemas.microsoft.com/office/powerpoint/2010/main" val="3069780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8034" y="1910629"/>
            <a:ext cx="7317428" cy="1375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69"/>
              </a:lnSpc>
            </a:pPr>
            <a:r>
              <a:rPr lang="en-US" sz="10369" b="1" spc="-101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Lượt đi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6976" y="3352899"/>
            <a:ext cx="925111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15"/>
              </a:lnSpc>
            </a:pPr>
            <a:r>
              <a:rPr lang="en-US" sz="9915" b="1" spc="-96">
                <a:solidFill>
                  <a:srgbClr val="F2BE59"/>
                </a:solidFill>
                <a:latin typeface="Roboto Bold"/>
                <a:ea typeface="Roboto Bold"/>
                <a:cs typeface="Roboto Bold"/>
                <a:sym typeface="Roboto Bold"/>
              </a:rPr>
              <a:t>không hợp lệ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5138034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5090" y="5744248"/>
            <a:ext cx="4216030" cy="4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spc="-3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Bàn cờ không thay đổi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9231" y="6647899"/>
            <a:ext cx="3801900" cy="4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spc="-3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Điểm số không tăng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3307" y="7611793"/>
            <a:ext cx="4394280" cy="4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spc="-3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Không sinh thêm ô mới</a:t>
            </a:r>
          </a:p>
        </p:txBody>
      </p:sp>
      <p:sp>
        <p:nvSpPr>
          <p:cNvPr id="9" name="Freeform 9"/>
          <p:cNvSpPr/>
          <p:nvPr/>
        </p:nvSpPr>
        <p:spPr>
          <a:xfrm>
            <a:off x="10008086" y="1279043"/>
            <a:ext cx="7415828" cy="7510275"/>
          </a:xfrm>
          <a:custGeom>
            <a:avLst/>
            <a:gdLst/>
            <a:ahLst/>
            <a:cxnLst/>
            <a:rect l="l" t="t" r="r" b="b"/>
            <a:pathLst>
              <a:path w="7415828" h="7510275">
                <a:moveTo>
                  <a:pt x="0" y="0"/>
                </a:moveTo>
                <a:lnTo>
                  <a:pt x="7415828" y="0"/>
                </a:lnTo>
                <a:lnTo>
                  <a:pt x="7415828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965952" y="1705390"/>
            <a:ext cx="1750048" cy="1519546"/>
          </a:xfrm>
          <a:custGeom>
            <a:avLst/>
            <a:gdLst/>
            <a:ahLst/>
            <a:cxnLst/>
            <a:rect l="l" t="t" r="r" b="b"/>
            <a:pathLst>
              <a:path w="1750048" h="1519546">
                <a:moveTo>
                  <a:pt x="0" y="0"/>
                </a:moveTo>
                <a:lnTo>
                  <a:pt x="1750048" y="0"/>
                </a:lnTo>
                <a:lnTo>
                  <a:pt x="175004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610071" y="2131657"/>
            <a:ext cx="421278" cy="764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9"/>
              </a:lnSpc>
            </a:pPr>
            <a:r>
              <a:rPr lang="en-US" sz="5729" b="1" spc="-55">
                <a:solidFill>
                  <a:srgbClr val="2D2A26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236354" y="4919394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958704" y="5565528"/>
            <a:ext cx="421278" cy="764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9"/>
              </a:lnSpc>
            </a:pPr>
            <a:r>
              <a:rPr lang="en-US" sz="5729" b="1" spc="-55">
                <a:solidFill>
                  <a:srgbClr val="2D2A26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53760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1408" y="1092791"/>
            <a:ext cx="5334592" cy="1201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-88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Điểm số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5638" y="2349302"/>
            <a:ext cx="6660190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9357" b="1" spc="-91">
                <a:solidFill>
                  <a:srgbClr val="EFBE5F"/>
                </a:solidFill>
                <a:latin typeface="Roboto Bold"/>
                <a:ea typeface="Roboto Bold"/>
                <a:cs typeface="Roboto Bold"/>
                <a:sym typeface="Roboto Bold"/>
              </a:rPr>
              <a:t>và Kỷ lục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86" y="4273038"/>
            <a:ext cx="577617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2970" spc="-29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Điểm tăng bằng giá trị ô</a:t>
            </a:r>
          </a:p>
          <a:p>
            <a:pPr algn="l">
              <a:lnSpc>
                <a:spcPts val="4158"/>
              </a:lnSpc>
            </a:pPr>
            <a:r>
              <a:rPr lang="en-US" sz="2970" b="1" spc="-29">
                <a:solidFill>
                  <a:srgbClr val="EFBE5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được tạo ra sau mỗi lần ghép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5564382"/>
            <a:ext cx="6540804" cy="229572"/>
          </a:xfrm>
          <a:custGeom>
            <a:avLst/>
            <a:gdLst/>
            <a:ahLst/>
            <a:cxnLst/>
            <a:rect l="l" t="t" r="r" b="b"/>
            <a:pathLst>
              <a:path w="6540804" h="229572">
                <a:moveTo>
                  <a:pt x="0" y="0"/>
                </a:moveTo>
                <a:lnTo>
                  <a:pt x="6540804" y="0"/>
                </a:lnTo>
                <a:lnTo>
                  <a:pt x="6540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58048" y="6110461"/>
            <a:ext cx="55665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2970" spc="-29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Kỹ lục được cập nhật</a:t>
            </a:r>
          </a:p>
          <a:p>
            <a:pPr algn="l">
              <a:lnSpc>
                <a:spcPts val="4158"/>
              </a:lnSpc>
            </a:pPr>
            <a:r>
              <a:rPr lang="en-US" sz="2970" b="1" spc="-29">
                <a:solidFill>
                  <a:srgbClr val="EFBE5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khi điểm cao hơn kỷ lục cũ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7499343"/>
            <a:ext cx="6540804" cy="218640"/>
          </a:xfrm>
          <a:custGeom>
            <a:avLst/>
            <a:gdLst/>
            <a:ahLst/>
            <a:cxnLst/>
            <a:rect l="l" t="t" r="r" b="b"/>
            <a:pathLst>
              <a:path w="6540804" h="218640">
                <a:moveTo>
                  <a:pt x="0" y="0"/>
                </a:moveTo>
                <a:lnTo>
                  <a:pt x="6540804" y="0"/>
                </a:lnTo>
                <a:lnTo>
                  <a:pt x="6540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54989" y="7962944"/>
            <a:ext cx="5188611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2970" spc="-29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Kỹ lục lưu trong localStorage</a:t>
            </a:r>
          </a:p>
          <a:p>
            <a:pPr algn="l">
              <a:lnSpc>
                <a:spcPts val="4158"/>
              </a:lnSpc>
            </a:pPr>
            <a:r>
              <a:rPr lang="en-US" sz="2970" spc="-29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với khóa </a:t>
            </a:r>
            <a:r>
              <a:rPr lang="en-US" sz="2970" b="1" spc="-29">
                <a:solidFill>
                  <a:srgbClr val="EFBE5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"2048-best"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9704" y="1236677"/>
            <a:ext cx="2048207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1" spc="-22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ĐIỂM HIỆN TẠI</a:t>
            </a:r>
          </a:p>
        </p:txBody>
      </p:sp>
      <p:sp>
        <p:nvSpPr>
          <p:cNvPr id="11" name="Freeform 11"/>
          <p:cNvSpPr/>
          <p:nvPr/>
        </p:nvSpPr>
        <p:spPr>
          <a:xfrm>
            <a:off x="8487732" y="1705390"/>
            <a:ext cx="3489158" cy="1727254"/>
          </a:xfrm>
          <a:custGeom>
            <a:avLst/>
            <a:gdLst/>
            <a:ahLst/>
            <a:cxnLst/>
            <a:rect l="l" t="t" r="r" b="b"/>
            <a:pathLst>
              <a:path w="3489158" h="1727254">
                <a:moveTo>
                  <a:pt x="0" y="0"/>
                </a:moveTo>
                <a:lnTo>
                  <a:pt x="3489158" y="0"/>
                </a:lnTo>
                <a:lnTo>
                  <a:pt x="348915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144000" y="2101763"/>
            <a:ext cx="2398348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1"/>
              </a:lnSpc>
            </a:pPr>
            <a:r>
              <a:rPr lang="en-US" sz="8101" b="1" spc="-79" smtClean="0">
                <a:solidFill>
                  <a:srgbClr val="EFBE5F"/>
                </a:solidFill>
                <a:latin typeface="Roboto Bold"/>
                <a:ea typeface="Roboto Bold"/>
                <a:cs typeface="Roboto Bold"/>
                <a:sym typeface="Roboto Bold"/>
              </a:rPr>
              <a:t>2400</a:t>
            </a:r>
            <a:endParaRPr lang="en-US" sz="8101" b="1" spc="-79">
              <a:solidFill>
                <a:srgbClr val="EFBE5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9789330" y="3421712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487732" y="4066699"/>
            <a:ext cx="3270402" cy="1508614"/>
          </a:xfrm>
          <a:custGeom>
            <a:avLst/>
            <a:gdLst/>
            <a:ahLst/>
            <a:cxnLst/>
            <a:rect l="l" t="t" r="r" b="b"/>
            <a:pathLst>
              <a:path w="3270402" h="1508614">
                <a:moveTo>
                  <a:pt x="0" y="0"/>
                </a:moveTo>
                <a:lnTo>
                  <a:pt x="3270402" y="0"/>
                </a:lnTo>
                <a:lnTo>
                  <a:pt x="327040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356335" y="4444636"/>
            <a:ext cx="173465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1" spc="-22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SO SÁNH</a:t>
            </a:r>
          </a:p>
        </p:txBody>
      </p:sp>
      <p:sp>
        <p:nvSpPr>
          <p:cNvPr id="16" name="Freeform 16"/>
          <p:cNvSpPr/>
          <p:nvPr/>
        </p:nvSpPr>
        <p:spPr>
          <a:xfrm>
            <a:off x="9789330" y="5356674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487732" y="5990729"/>
            <a:ext cx="3270402" cy="1727254"/>
          </a:xfrm>
          <a:custGeom>
            <a:avLst/>
            <a:gdLst/>
            <a:ahLst/>
            <a:cxnLst/>
            <a:rect l="l" t="t" r="r" b="b"/>
            <a:pathLst>
              <a:path w="3270402" h="1727254">
                <a:moveTo>
                  <a:pt x="0" y="0"/>
                </a:moveTo>
                <a:lnTo>
                  <a:pt x="3270402" y="0"/>
                </a:lnTo>
                <a:lnTo>
                  <a:pt x="327040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938026" y="6558969"/>
            <a:ext cx="2595883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CẬP NHẬT KỶ LỤC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0926" y="6980672"/>
            <a:ext cx="2124419" cy="28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spc="-19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nếu điểm cao hơn</a:t>
            </a:r>
          </a:p>
        </p:txBody>
      </p:sp>
      <p:sp>
        <p:nvSpPr>
          <p:cNvPr id="20" name="Freeform 20"/>
          <p:cNvSpPr/>
          <p:nvPr/>
        </p:nvSpPr>
        <p:spPr>
          <a:xfrm>
            <a:off x="9789330" y="7499343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487732" y="8133399"/>
            <a:ext cx="3489158" cy="1519546"/>
          </a:xfrm>
          <a:custGeom>
            <a:avLst/>
            <a:gdLst/>
            <a:ahLst/>
            <a:cxnLst/>
            <a:rect l="l" t="t" r="r" b="b"/>
            <a:pathLst>
              <a:path w="3489158" h="1519546">
                <a:moveTo>
                  <a:pt x="0" y="0"/>
                </a:moveTo>
                <a:lnTo>
                  <a:pt x="3489158" y="0"/>
                </a:lnTo>
                <a:lnTo>
                  <a:pt x="348915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626078" y="8598804"/>
            <a:ext cx="286183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LƯU VÀO LOCALSTORAGE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38105" y="9161615"/>
            <a:ext cx="3321844" cy="30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spc="-23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khóa </a:t>
            </a:r>
            <a:r>
              <a:rPr lang="en-US" sz="2387" b="1" spc="-23">
                <a:solidFill>
                  <a:srgbClr val="EFBE5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"2048-best"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75283" y="4887216"/>
            <a:ext cx="2015704" cy="28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spc="-19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với kỷ lục hiện có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74005" y="973966"/>
            <a:ext cx="5399939" cy="845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20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5248" y="1644292"/>
            <a:ext cx="9065637" cy="2735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12"/>
              </a:lnSpc>
            </a:pPr>
            <a:r>
              <a:rPr lang="en-US" sz="9915" b="1" spc="-198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Trạng thái</a:t>
            </a:r>
          </a:p>
          <a:p>
            <a:pPr algn="l">
              <a:lnSpc>
                <a:spcPts val="10612"/>
              </a:lnSpc>
            </a:pPr>
            <a:r>
              <a:rPr lang="en-US" sz="9915" b="1" spc="-198">
                <a:solidFill>
                  <a:srgbClr val="E6B964"/>
                </a:solidFill>
                <a:latin typeface="Roboto Bold"/>
                <a:ea typeface="Roboto Bold"/>
                <a:cs typeface="Roboto Bold"/>
                <a:sym typeface="Roboto Bold"/>
              </a:rPr>
              <a:t>chiến thắng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4711687"/>
            <a:ext cx="6978316" cy="437279"/>
          </a:xfrm>
          <a:custGeom>
            <a:avLst/>
            <a:gdLst/>
            <a:ahLst/>
            <a:cxnLst/>
            <a:rect l="l" t="t" r="r" b="b"/>
            <a:pathLst>
              <a:path w="6978316" h="437279">
                <a:moveTo>
                  <a:pt x="0" y="0"/>
                </a:moveTo>
                <a:lnTo>
                  <a:pt x="6978316" y="0"/>
                </a:lnTo>
                <a:lnTo>
                  <a:pt x="6978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0702" y="5514313"/>
            <a:ext cx="6975912" cy="122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7"/>
              </a:lnSpc>
            </a:pPr>
            <a:r>
              <a:rPr lang="en-US" sz="3304" spc="-6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Khi kết hợp các ô và tạo được ô </a:t>
            </a:r>
            <a:r>
              <a:rPr lang="en-US" sz="3304" b="1" spc="-66">
                <a:solidFill>
                  <a:srgbClr val="E6B964"/>
                </a:solidFill>
                <a:latin typeface="Roboto Bold"/>
                <a:ea typeface="Roboto Bold"/>
                <a:cs typeface="Roboto Bold"/>
                <a:sym typeface="Roboto Bold"/>
              </a:rPr>
              <a:t>2048</a:t>
            </a:r>
            <a:r>
              <a:rPr lang="en-US" sz="3304" spc="-6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, trò chơi sẽ </a:t>
            </a:r>
            <a:r>
              <a:rPr lang="en-US" sz="3304" b="1" spc="-66">
                <a:solidFill>
                  <a:srgbClr val="E6B964"/>
                </a:solidFill>
                <a:latin typeface="Roboto Bold"/>
                <a:ea typeface="Roboto Bold"/>
                <a:cs typeface="Roboto Bold"/>
                <a:sym typeface="Roboto Bold"/>
              </a:rPr>
              <a:t>thông báo chiến thắng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1656" y="7261371"/>
            <a:ext cx="6880492" cy="122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7"/>
              </a:lnSpc>
            </a:pPr>
            <a:r>
              <a:rPr lang="en-US" sz="3304" spc="-6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Bạn có thể chọn </a:t>
            </a:r>
            <a:r>
              <a:rPr lang="en-US" sz="3304" b="1" spc="-66">
                <a:solidFill>
                  <a:srgbClr val="E6B964"/>
                </a:solidFill>
                <a:latin typeface="Roboto Bold"/>
                <a:ea typeface="Roboto Bold"/>
                <a:cs typeface="Roboto Bold"/>
                <a:sym typeface="Roboto Bold"/>
              </a:rPr>
              <a:t>Tiếp tục</a:t>
            </a:r>
            <a:r>
              <a:rPr lang="en-US" sz="3304" spc="-6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 để chơi tiếp hoặc </a:t>
            </a:r>
            <a:r>
              <a:rPr lang="en-US" sz="3304" b="1" spc="-66">
                <a:solidFill>
                  <a:srgbClr val="E6B964"/>
                </a:solidFill>
                <a:latin typeface="Roboto Bold"/>
                <a:ea typeface="Roboto Bold"/>
                <a:cs typeface="Roboto Bold"/>
                <a:sym typeface="Roboto Bold"/>
              </a:rPr>
              <a:t>Chơi lại</a:t>
            </a:r>
            <a:r>
              <a:rPr lang="en-US" sz="3304" spc="-6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 để bắt đầu ván mới</a:t>
            </a:r>
          </a:p>
        </p:txBody>
      </p:sp>
      <p:sp>
        <p:nvSpPr>
          <p:cNvPr id="7" name="Freeform 7"/>
          <p:cNvSpPr/>
          <p:nvPr/>
        </p:nvSpPr>
        <p:spPr>
          <a:xfrm>
            <a:off x="9144000" y="207708"/>
            <a:ext cx="7842402" cy="10079292"/>
          </a:xfrm>
          <a:custGeom>
            <a:avLst/>
            <a:gdLst/>
            <a:ahLst/>
            <a:cxnLst/>
            <a:rect l="l" t="t" r="r" b="b"/>
            <a:pathLst>
              <a:path w="7842402" h="10079292">
                <a:moveTo>
                  <a:pt x="0" y="0"/>
                </a:moveTo>
                <a:lnTo>
                  <a:pt x="7842402" y="0"/>
                </a:lnTo>
                <a:lnTo>
                  <a:pt x="7842402" y="10079292"/>
                </a:lnTo>
                <a:lnTo>
                  <a:pt x="0" y="10079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83110" y="1279043"/>
            <a:ext cx="5228268" cy="1508614"/>
          </a:xfrm>
          <a:custGeom>
            <a:avLst/>
            <a:gdLst/>
            <a:ahLst/>
            <a:cxnLst/>
            <a:rect l="l" t="t" r="r" b="b"/>
            <a:pathLst>
              <a:path w="5228268" h="1508614">
                <a:moveTo>
                  <a:pt x="0" y="0"/>
                </a:moveTo>
                <a:lnTo>
                  <a:pt x="5228268" y="0"/>
                </a:lnTo>
                <a:lnTo>
                  <a:pt x="522826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637686" y="1675680"/>
            <a:ext cx="315683" cy="802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0"/>
              </a:lnSpc>
            </a:pPr>
            <a:r>
              <a:rPr lang="en-US" sz="4447" b="1" i="1" spc="-89">
                <a:solidFill>
                  <a:srgbClr val="F6F6F6">
                    <a:alpha val="14902"/>
                  </a:srgbClr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64113" y="1675680"/>
            <a:ext cx="631366" cy="802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0"/>
              </a:lnSpc>
            </a:pPr>
            <a:r>
              <a:rPr lang="en-US" sz="4447" b="1" i="1" spc="-89">
                <a:solidFill>
                  <a:srgbClr val="F6F6F6">
                    <a:alpha val="14902"/>
                  </a:srgbClr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16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445598" y="2569017"/>
            <a:ext cx="5239206" cy="5148966"/>
          </a:xfrm>
          <a:custGeom>
            <a:avLst/>
            <a:gdLst/>
            <a:ahLst/>
            <a:cxnLst/>
            <a:rect l="l" t="t" r="r" b="b"/>
            <a:pathLst>
              <a:path w="5239206" h="5148966">
                <a:moveTo>
                  <a:pt x="0" y="0"/>
                </a:moveTo>
                <a:lnTo>
                  <a:pt x="5239206" y="0"/>
                </a:lnTo>
                <a:lnTo>
                  <a:pt x="5239206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 rot="89648">
            <a:off x="11556588" y="3265725"/>
            <a:ext cx="3910791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70"/>
              </a:lnSpc>
            </a:pPr>
            <a:r>
              <a:rPr lang="en-US" sz="4447" b="1" i="1" spc="-89">
                <a:solidFill>
                  <a:srgbClr val="E6B9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CHÚC MỪNG!</a:t>
            </a:r>
          </a:p>
        </p:txBody>
      </p:sp>
      <p:sp>
        <p:nvSpPr>
          <p:cNvPr id="13" name="TextBox 13"/>
          <p:cNvSpPr txBox="1"/>
          <p:nvPr/>
        </p:nvSpPr>
        <p:spPr>
          <a:xfrm rot="110742">
            <a:off x="11375757" y="4105658"/>
            <a:ext cx="409813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707" i="1" spc="-54">
                <a:solidFill>
                  <a:srgbClr val="F6F6F6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Bạn đã tạo được ô 2048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101866" y="4919394"/>
            <a:ext cx="3926670" cy="1300906"/>
          </a:xfrm>
          <a:custGeom>
            <a:avLst/>
            <a:gdLst/>
            <a:ahLst/>
            <a:cxnLst/>
            <a:rect l="l" t="t" r="r" b="b"/>
            <a:pathLst>
              <a:path w="3926670" h="1300906">
                <a:moveTo>
                  <a:pt x="0" y="0"/>
                </a:moveTo>
                <a:lnTo>
                  <a:pt x="3926670" y="0"/>
                </a:lnTo>
                <a:lnTo>
                  <a:pt x="392667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 rot="110742">
            <a:off x="12248127" y="5168917"/>
            <a:ext cx="1414262" cy="57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168" b="1" i="1" spc="-63">
                <a:solidFill>
                  <a:srgbClr val="252827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Tiếp tục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883110" y="5990729"/>
            <a:ext cx="3926670" cy="1300906"/>
          </a:xfrm>
          <a:custGeom>
            <a:avLst/>
            <a:gdLst/>
            <a:ahLst/>
            <a:cxnLst/>
            <a:rect l="l" t="t" r="r" b="b"/>
            <a:pathLst>
              <a:path w="3926670" h="1300906">
                <a:moveTo>
                  <a:pt x="0" y="0"/>
                </a:moveTo>
                <a:lnTo>
                  <a:pt x="3926670" y="0"/>
                </a:lnTo>
                <a:lnTo>
                  <a:pt x="392667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 rot="110742">
            <a:off x="12133435" y="6283419"/>
            <a:ext cx="1302354" cy="57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168" b="1" i="1" spc="-63">
                <a:solidFill>
                  <a:srgbClr val="252827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Chơi lại</a:t>
            </a:r>
          </a:p>
        </p:txBody>
      </p:sp>
      <p:sp>
        <p:nvSpPr>
          <p:cNvPr id="18" name="Freeform 18"/>
          <p:cNvSpPr/>
          <p:nvPr/>
        </p:nvSpPr>
        <p:spPr>
          <a:xfrm>
            <a:off x="9789330" y="7499343"/>
            <a:ext cx="4145426" cy="1716322"/>
          </a:xfrm>
          <a:custGeom>
            <a:avLst/>
            <a:gdLst/>
            <a:ahLst/>
            <a:cxnLst/>
            <a:rect l="l" t="t" r="r" b="b"/>
            <a:pathLst>
              <a:path w="4145426" h="1716322">
                <a:moveTo>
                  <a:pt x="0" y="0"/>
                </a:moveTo>
                <a:lnTo>
                  <a:pt x="4145426" y="0"/>
                </a:lnTo>
                <a:lnTo>
                  <a:pt x="4145426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 rot="268945">
            <a:off x="11511847" y="7926133"/>
            <a:ext cx="645599" cy="802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0"/>
              </a:lnSpc>
            </a:pPr>
            <a:r>
              <a:rPr lang="en-US" sz="4447" b="1" spc="-89">
                <a:solidFill>
                  <a:srgbClr val="F6F6F6">
                    <a:alpha val="1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32</a:t>
            </a:r>
          </a:p>
        </p:txBody>
      </p:sp>
      <p:sp>
        <p:nvSpPr>
          <p:cNvPr id="20" name="TextBox 20"/>
          <p:cNvSpPr txBox="1"/>
          <p:nvPr/>
        </p:nvSpPr>
        <p:spPr>
          <a:xfrm rot="268945">
            <a:off x="12810313" y="8016498"/>
            <a:ext cx="645599" cy="802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0"/>
              </a:lnSpc>
            </a:pPr>
            <a:r>
              <a:rPr lang="en-US" sz="4447" b="1" spc="-89">
                <a:solidFill>
                  <a:srgbClr val="F6F6F6">
                    <a:alpha val="1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64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716000" y="7707051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 rot="268945">
            <a:off x="14092327" y="8201662"/>
            <a:ext cx="995342" cy="62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1"/>
              </a:lnSpc>
            </a:pPr>
            <a:r>
              <a:rPr lang="en-US" sz="3440" b="1" spc="-68">
                <a:solidFill>
                  <a:srgbClr val="F6F6F6">
                    <a:alpha val="6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2048</a:t>
            </a:r>
          </a:p>
        </p:txBody>
      </p:sp>
    </p:spTree>
    <p:extLst>
      <p:ext uri="{BB962C8B-B14F-4D97-AF65-F5344CB8AC3E}">
        <p14:creationId xmlns:p14="http://schemas.microsoft.com/office/powerpoint/2010/main" val="35048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7038" y="1845834"/>
            <a:ext cx="6852961" cy="1201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-88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Hết nước đi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8438" y="3487221"/>
            <a:ext cx="5560115" cy="654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3616" spc="-35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Bàn cờ không còn ô trống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8162" y="4665122"/>
            <a:ext cx="5587698" cy="1257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8"/>
              </a:lnSpc>
            </a:pPr>
            <a:r>
              <a:rPr lang="en-US" sz="3713" spc="-3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Không còn cặp ô kề nhau</a:t>
            </a:r>
          </a:p>
          <a:p>
            <a:pPr algn="l">
              <a:lnSpc>
                <a:spcPts val="5198"/>
              </a:lnSpc>
            </a:pPr>
            <a:r>
              <a:rPr lang="en-US" sz="3713" spc="-36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cùng giá trị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3214" y="6378903"/>
            <a:ext cx="4082551" cy="133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3616" spc="-35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Trò chơi thông báo</a:t>
            </a:r>
          </a:p>
          <a:p>
            <a:pPr algn="l">
              <a:lnSpc>
                <a:spcPts val="5425"/>
              </a:lnSpc>
            </a:pPr>
            <a:r>
              <a:rPr lang="en-US" sz="3616" spc="-35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kết thúc ván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687804"/>
            <a:ext cx="7496456" cy="721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00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828358" y="2618502"/>
            <a:ext cx="7096441" cy="1418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50"/>
              </a:lnSpc>
            </a:pPr>
            <a:r>
              <a:rPr lang="en-US" sz="10650" b="1" spc="-317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Chơi mới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9678" y="4161017"/>
            <a:ext cx="8771522" cy="547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170" b="1" spc="-124">
                <a:solidFill>
                  <a:srgbClr val="E6B96C"/>
                </a:solidFill>
                <a:latin typeface="Roboto Bold"/>
                <a:ea typeface="Roboto Bold"/>
                <a:cs typeface="Roboto Bold"/>
                <a:sym typeface="Roboto Bold"/>
              </a:rPr>
              <a:t>Bắt đầu ván mới chỉ với một chạm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7681" y="5292256"/>
            <a:ext cx="7993581" cy="3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2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Nút Chơi mới khởi tạo lại bàn cờ và điểm hiện tại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8834" y="6090480"/>
            <a:ext cx="4878367" cy="3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2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Kỷ lục đã lưu vẫn được giữ lại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9612" y="6903766"/>
            <a:ext cx="6800470" cy="3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2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Giúp người chơi bắt đầu ván mới dễ dàng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361" y="563350"/>
            <a:ext cx="6039144" cy="945781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5468600" y="3162301"/>
            <a:ext cx="1676400" cy="761999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34" idx="1"/>
          </p:cNvCxnSpPr>
          <p:nvPr/>
        </p:nvCxnSpPr>
        <p:spPr>
          <a:xfrm flipH="1" flipV="1">
            <a:off x="7670082" y="3543300"/>
            <a:ext cx="7798518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750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47750" y="1038225"/>
            <a:ext cx="6572250" cy="1474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5550" b="1">
                <a:solidFill>
                  <a:srgbClr val="22252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Giao diện tập trung</a:t>
            </a:r>
          </a:p>
          <a:p>
            <a:pPr algn="l">
              <a:lnSpc>
                <a:spcPts val="5772"/>
              </a:lnSpc>
            </a:pPr>
            <a:r>
              <a:rPr lang="en-US" sz="5550" b="1">
                <a:solidFill>
                  <a:srgbClr val="22252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vào bàn cờ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1604" y="2828328"/>
            <a:ext cx="7132915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800">
                <a:solidFill>
                  <a:srgbClr val="22252A"/>
                </a:solidFill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Tiêu đề, điểm, kỷ lục và nút Chơi mới tạo thành vùng điều khiển ngắn gọn. Bàn cờ 4 cột là tâm điểm; hướng dẫn và thông báo trạng thái nằm ngay bên dưới.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5361" y="563350"/>
            <a:ext cx="6039144" cy="9457812"/>
          </a:xfrm>
          <a:prstGeom prst="rect">
            <a:avLst/>
          </a:prstGeom>
        </p:spPr>
      </p:pic>
      <p:grpSp>
        <p:nvGrpSpPr>
          <p:cNvPr id="9" name="Group 3"/>
          <p:cNvGrpSpPr/>
          <p:nvPr/>
        </p:nvGrpSpPr>
        <p:grpSpPr>
          <a:xfrm>
            <a:off x="457200" y="5013579"/>
            <a:ext cx="3810000" cy="1120521"/>
            <a:chOff x="0" y="0"/>
            <a:chExt cx="5461000" cy="1905000"/>
          </a:xfrm>
        </p:grpSpPr>
        <p:sp>
          <p:nvSpPr>
            <p:cNvPr id="10" name="Freeform 4"/>
            <p:cNvSpPr/>
            <p:nvPr/>
          </p:nvSpPr>
          <p:spPr>
            <a:xfrm>
              <a:off x="0" y="0"/>
              <a:ext cx="5461000" cy="1905000"/>
            </a:xfrm>
            <a:custGeom>
              <a:avLst/>
              <a:gdLst/>
              <a:ahLst/>
              <a:cxnLst/>
              <a:rect l="l" t="t" r="r" b="b"/>
              <a:pathLst>
                <a:path w="5461000" h="1905000">
                  <a:moveTo>
                    <a:pt x="29535" y="0"/>
                  </a:moveTo>
                  <a:lnTo>
                    <a:pt x="5431465" y="0"/>
                  </a:lnTo>
                  <a:cubicBezTo>
                    <a:pt x="5447777" y="0"/>
                    <a:pt x="5461000" y="13223"/>
                    <a:pt x="5461000" y="29535"/>
                  </a:cubicBezTo>
                  <a:lnTo>
                    <a:pt x="5461000" y="1875465"/>
                  </a:lnTo>
                  <a:cubicBezTo>
                    <a:pt x="5461000" y="1891777"/>
                    <a:pt x="5447777" y="1905000"/>
                    <a:pt x="5431465" y="1905000"/>
                  </a:cubicBezTo>
                  <a:lnTo>
                    <a:pt x="29535" y="1905000"/>
                  </a:lnTo>
                  <a:cubicBezTo>
                    <a:pt x="13223" y="1905000"/>
                    <a:pt x="0" y="1891777"/>
                    <a:pt x="0" y="1875465"/>
                  </a:cubicBezTo>
                  <a:lnTo>
                    <a:pt x="0" y="29535"/>
                  </a:lnTo>
                  <a:cubicBezTo>
                    <a:pt x="0" y="13223"/>
                    <a:pt x="13223" y="0"/>
                    <a:pt x="29535" y="0"/>
                  </a:cubicBezTo>
                  <a:close/>
                </a:path>
              </a:pathLst>
            </a:custGeom>
            <a:solidFill>
              <a:srgbClr val="7A6EE6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5"/>
            <p:cNvSpPr txBox="1"/>
            <p:nvPr/>
          </p:nvSpPr>
          <p:spPr>
            <a:xfrm>
              <a:off x="0" y="-47625"/>
              <a:ext cx="5461000" cy="195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grid + gridcell</a:t>
              </a:r>
            </a:p>
            <a:p>
              <a:pPr algn="ctr">
                <a:lnSpc>
                  <a:spcPts val="2729"/>
                </a:lnSpc>
              </a:pPr>
              <a:r>
                <a:rPr lang="en-US" sz="2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Nhãn mô tả giá trị</a:t>
              </a:r>
            </a:p>
          </p:txBody>
        </p:sp>
      </p:grpSp>
      <p:grpSp>
        <p:nvGrpSpPr>
          <p:cNvPr id="12" name="Group 6"/>
          <p:cNvGrpSpPr/>
          <p:nvPr/>
        </p:nvGrpSpPr>
        <p:grpSpPr>
          <a:xfrm>
            <a:off x="8194521" y="4431682"/>
            <a:ext cx="3070839" cy="1397618"/>
            <a:chOff x="0" y="0"/>
            <a:chExt cx="5461000" cy="1905000"/>
          </a:xfrm>
        </p:grpSpPr>
        <p:sp>
          <p:nvSpPr>
            <p:cNvPr id="13" name="Freeform 7"/>
            <p:cNvSpPr/>
            <p:nvPr/>
          </p:nvSpPr>
          <p:spPr>
            <a:xfrm>
              <a:off x="0" y="0"/>
              <a:ext cx="5461000" cy="1905000"/>
            </a:xfrm>
            <a:custGeom>
              <a:avLst/>
              <a:gdLst/>
              <a:ahLst/>
              <a:cxnLst/>
              <a:rect l="l" t="t" r="r" b="b"/>
              <a:pathLst>
                <a:path w="5461000" h="1905000">
                  <a:moveTo>
                    <a:pt x="29535" y="0"/>
                  </a:moveTo>
                  <a:lnTo>
                    <a:pt x="5431465" y="0"/>
                  </a:lnTo>
                  <a:cubicBezTo>
                    <a:pt x="5447777" y="0"/>
                    <a:pt x="5461000" y="13223"/>
                    <a:pt x="5461000" y="29535"/>
                  </a:cubicBezTo>
                  <a:lnTo>
                    <a:pt x="5461000" y="1875465"/>
                  </a:lnTo>
                  <a:cubicBezTo>
                    <a:pt x="5461000" y="1891777"/>
                    <a:pt x="5447777" y="1905000"/>
                    <a:pt x="5431465" y="1905000"/>
                  </a:cubicBezTo>
                  <a:lnTo>
                    <a:pt x="29535" y="1905000"/>
                  </a:lnTo>
                  <a:cubicBezTo>
                    <a:pt x="13223" y="1905000"/>
                    <a:pt x="0" y="1891777"/>
                    <a:pt x="0" y="1875465"/>
                  </a:cubicBezTo>
                  <a:lnTo>
                    <a:pt x="0" y="29535"/>
                  </a:lnTo>
                  <a:cubicBezTo>
                    <a:pt x="0" y="13223"/>
                    <a:pt x="13223" y="0"/>
                    <a:pt x="29535" y="0"/>
                  </a:cubicBezTo>
                  <a:close/>
                </a:path>
              </a:pathLst>
            </a:custGeom>
            <a:solidFill>
              <a:srgbClr val="55B8A6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8"/>
            <p:cNvSpPr txBox="1"/>
            <p:nvPr/>
          </p:nvSpPr>
          <p:spPr>
            <a:xfrm>
              <a:off x="0" y="-47625"/>
              <a:ext cx="5461000" cy="195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aria-live</a:t>
              </a:r>
            </a:p>
            <a:p>
              <a:pPr algn="ctr">
                <a:lnSpc>
                  <a:spcPts val="2729"/>
                </a:lnSpc>
              </a:pPr>
              <a:r>
                <a:rPr lang="en-US" sz="2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Điểm &amp; trạng thái</a:t>
              </a:r>
            </a:p>
          </p:txBody>
        </p:sp>
      </p:grpSp>
      <p:grpSp>
        <p:nvGrpSpPr>
          <p:cNvPr id="15" name="Group 9"/>
          <p:cNvGrpSpPr/>
          <p:nvPr/>
        </p:nvGrpSpPr>
        <p:grpSpPr>
          <a:xfrm>
            <a:off x="457200" y="8347329"/>
            <a:ext cx="3250445" cy="1139571"/>
            <a:chOff x="0" y="0"/>
            <a:chExt cx="5461000" cy="1905000"/>
          </a:xfrm>
        </p:grpSpPr>
        <p:sp>
          <p:nvSpPr>
            <p:cNvPr id="16" name="Freeform 10"/>
            <p:cNvSpPr/>
            <p:nvPr/>
          </p:nvSpPr>
          <p:spPr>
            <a:xfrm>
              <a:off x="0" y="0"/>
              <a:ext cx="5461000" cy="1905000"/>
            </a:xfrm>
            <a:custGeom>
              <a:avLst/>
              <a:gdLst/>
              <a:ahLst/>
              <a:cxnLst/>
              <a:rect l="l" t="t" r="r" b="b"/>
              <a:pathLst>
                <a:path w="5461000" h="1905000">
                  <a:moveTo>
                    <a:pt x="29535" y="0"/>
                  </a:moveTo>
                  <a:lnTo>
                    <a:pt x="5431465" y="0"/>
                  </a:lnTo>
                  <a:cubicBezTo>
                    <a:pt x="5447777" y="0"/>
                    <a:pt x="5461000" y="13223"/>
                    <a:pt x="5461000" y="29535"/>
                  </a:cubicBezTo>
                  <a:lnTo>
                    <a:pt x="5461000" y="1875465"/>
                  </a:lnTo>
                  <a:cubicBezTo>
                    <a:pt x="5461000" y="1891777"/>
                    <a:pt x="5447777" y="1905000"/>
                    <a:pt x="5431465" y="1905000"/>
                  </a:cubicBezTo>
                  <a:lnTo>
                    <a:pt x="29535" y="1905000"/>
                  </a:lnTo>
                  <a:cubicBezTo>
                    <a:pt x="13223" y="1905000"/>
                    <a:pt x="0" y="1891777"/>
                    <a:pt x="0" y="1875465"/>
                  </a:cubicBezTo>
                  <a:lnTo>
                    <a:pt x="0" y="29535"/>
                  </a:lnTo>
                  <a:cubicBezTo>
                    <a:pt x="0" y="13223"/>
                    <a:pt x="13223" y="0"/>
                    <a:pt x="29535" y="0"/>
                  </a:cubicBezTo>
                  <a:close/>
                </a:path>
              </a:pathLst>
            </a:custGeom>
            <a:solidFill>
              <a:srgbClr val="F6B44B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1"/>
            <p:cNvSpPr txBox="1"/>
            <p:nvPr/>
          </p:nvSpPr>
          <p:spPr>
            <a:xfrm>
              <a:off x="0" y="-47625"/>
              <a:ext cx="5461000" cy="195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Focus rõ ràng</a:t>
              </a:r>
            </a:p>
            <a:p>
              <a:pPr algn="ctr">
                <a:lnSpc>
                  <a:spcPts val="2729"/>
                </a:lnSpc>
              </a:pPr>
              <a:r>
                <a:rPr lang="en-US" sz="2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Điều hướng bàn phím</a:t>
              </a:r>
            </a:p>
          </p:txBody>
        </p:sp>
      </p:grpSp>
      <p:grpSp>
        <p:nvGrpSpPr>
          <p:cNvPr id="18" name="Group 12"/>
          <p:cNvGrpSpPr/>
          <p:nvPr/>
        </p:nvGrpSpPr>
        <p:grpSpPr>
          <a:xfrm>
            <a:off x="7177404" y="8667376"/>
            <a:ext cx="3766790" cy="1366111"/>
            <a:chOff x="0" y="0"/>
            <a:chExt cx="5461000" cy="1905000"/>
          </a:xfrm>
        </p:grpSpPr>
        <p:sp>
          <p:nvSpPr>
            <p:cNvPr id="19" name="Freeform 13"/>
            <p:cNvSpPr/>
            <p:nvPr/>
          </p:nvSpPr>
          <p:spPr>
            <a:xfrm>
              <a:off x="0" y="0"/>
              <a:ext cx="5461000" cy="1905000"/>
            </a:xfrm>
            <a:custGeom>
              <a:avLst/>
              <a:gdLst/>
              <a:ahLst/>
              <a:cxnLst/>
              <a:rect l="l" t="t" r="r" b="b"/>
              <a:pathLst>
                <a:path w="5461000" h="1905000">
                  <a:moveTo>
                    <a:pt x="29535" y="0"/>
                  </a:moveTo>
                  <a:lnTo>
                    <a:pt x="5431465" y="0"/>
                  </a:lnTo>
                  <a:cubicBezTo>
                    <a:pt x="5447777" y="0"/>
                    <a:pt x="5461000" y="13223"/>
                    <a:pt x="5461000" y="29535"/>
                  </a:cubicBezTo>
                  <a:lnTo>
                    <a:pt x="5461000" y="1875465"/>
                  </a:lnTo>
                  <a:cubicBezTo>
                    <a:pt x="5461000" y="1891777"/>
                    <a:pt x="5447777" y="1905000"/>
                    <a:pt x="5431465" y="1905000"/>
                  </a:cubicBezTo>
                  <a:lnTo>
                    <a:pt x="29535" y="1905000"/>
                  </a:lnTo>
                  <a:cubicBezTo>
                    <a:pt x="13223" y="1905000"/>
                    <a:pt x="0" y="1891777"/>
                    <a:pt x="0" y="1875465"/>
                  </a:cubicBezTo>
                  <a:lnTo>
                    <a:pt x="0" y="29535"/>
                  </a:lnTo>
                  <a:cubicBezTo>
                    <a:pt x="0" y="13223"/>
                    <a:pt x="13223" y="0"/>
                    <a:pt x="29535" y="0"/>
                  </a:cubicBezTo>
                  <a:close/>
                </a:path>
              </a:pathLst>
            </a:custGeom>
            <a:solidFill>
              <a:srgbClr val="ED765E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14"/>
            <p:cNvSpPr txBox="1"/>
            <p:nvPr/>
          </p:nvSpPr>
          <p:spPr>
            <a:xfrm>
              <a:off x="0" y="-47625"/>
              <a:ext cx="5461000" cy="195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Chuyển động mượt</a:t>
              </a:r>
            </a:p>
            <a:p>
              <a:pPr algn="ctr">
                <a:lnSpc>
                  <a:spcPts val="2729"/>
                </a:lnSpc>
              </a:pPr>
              <a:r>
                <a:rPr lang="en-US" sz="2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Phản hồi trực quan</a:t>
              </a:r>
            </a:p>
          </p:txBody>
        </p:sp>
      </p:grpSp>
      <p:sp>
        <p:nvSpPr>
          <p:cNvPr id="21" name="TextBox 15"/>
          <p:cNvSpPr txBox="1"/>
          <p:nvPr/>
        </p:nvSpPr>
        <p:spPr>
          <a:xfrm>
            <a:off x="5023796" y="6592598"/>
            <a:ext cx="30480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3150" b="1">
                <a:solidFill>
                  <a:srgbClr val="FF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TRẢI NGHIỆM</a:t>
            </a:r>
          </a:p>
          <a:p>
            <a:pPr algn="ctr">
              <a:lnSpc>
                <a:spcPts val="3276"/>
              </a:lnSpc>
            </a:pPr>
            <a:r>
              <a:rPr lang="en-US" sz="3150" b="1">
                <a:solidFill>
                  <a:srgbClr val="FF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CÓ THỂ TIẾP CẬN</a:t>
            </a:r>
          </a:p>
        </p:txBody>
      </p:sp>
      <p:sp>
        <p:nvSpPr>
          <p:cNvPr id="22" name="AutoShape 16"/>
          <p:cNvSpPr/>
          <p:nvPr/>
        </p:nvSpPr>
        <p:spPr>
          <a:xfrm>
            <a:off x="4309421" y="5550870"/>
            <a:ext cx="1222841" cy="1041728"/>
          </a:xfrm>
          <a:prstGeom prst="line">
            <a:avLst/>
          </a:prstGeom>
          <a:ln w="38100" cap="flat">
            <a:solidFill>
              <a:srgbClr val="8F96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17"/>
          <p:cNvSpPr/>
          <p:nvPr/>
        </p:nvSpPr>
        <p:spPr>
          <a:xfrm flipH="1">
            <a:off x="7198186" y="5806075"/>
            <a:ext cx="996334" cy="471272"/>
          </a:xfrm>
          <a:prstGeom prst="line">
            <a:avLst/>
          </a:prstGeom>
          <a:ln w="38100" cap="flat">
            <a:solidFill>
              <a:srgbClr val="8F96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18"/>
          <p:cNvSpPr/>
          <p:nvPr/>
        </p:nvSpPr>
        <p:spPr>
          <a:xfrm flipV="1">
            <a:off x="3758734" y="7430547"/>
            <a:ext cx="1428750" cy="1762125"/>
          </a:xfrm>
          <a:prstGeom prst="line">
            <a:avLst/>
          </a:prstGeom>
          <a:ln w="38100" cap="flat">
            <a:solidFill>
              <a:srgbClr val="8F96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19"/>
          <p:cNvSpPr/>
          <p:nvPr/>
        </p:nvSpPr>
        <p:spPr>
          <a:xfrm flipH="1" flipV="1">
            <a:off x="7483951" y="7724774"/>
            <a:ext cx="710570" cy="923925"/>
          </a:xfrm>
          <a:prstGeom prst="line">
            <a:avLst/>
          </a:prstGeom>
          <a:ln w="38100" cap="flat">
            <a:solidFill>
              <a:srgbClr val="8F96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43395" y="2525561"/>
            <a:ext cx="11372850" cy="375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3200">
                <a:solidFill>
                  <a:srgbClr val="ED765E"/>
                </a:solidFill>
                <a:latin typeface="Noto Sans"/>
                <a:ea typeface="Noto Sans"/>
                <a:cs typeface="Noto Sans"/>
                <a:sym typeface="Noto Sans"/>
              </a:rPr>
              <a:t>Trạng thái cốt lõi: mảng 16 giá trị + điểm + cờ thắng / thua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810000"/>
            <a:ext cx="2476500" cy="1809750"/>
            <a:chOff x="0" y="0"/>
            <a:chExt cx="3302000" cy="2413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02000" cy="2413000"/>
            </a:xfrm>
            <a:custGeom>
              <a:avLst/>
              <a:gdLst/>
              <a:ahLst/>
              <a:cxnLst/>
              <a:rect l="l" t="t" r="r" b="b"/>
              <a:pathLst>
                <a:path w="3302000" h="2413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2364154"/>
                  </a:lnTo>
                  <a:cubicBezTo>
                    <a:pt x="3302000" y="2391131"/>
                    <a:pt x="3280131" y="2413000"/>
                    <a:pt x="3253154" y="2413000"/>
                  </a:cubicBezTo>
                  <a:lnTo>
                    <a:pt x="48846" y="2413000"/>
                  </a:lnTo>
                  <a:cubicBezTo>
                    <a:pt x="21869" y="2413000"/>
                    <a:pt x="0" y="2391131"/>
                    <a:pt x="0" y="2364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7A6EE6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302000" cy="2460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4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  Nhận hướng</a:t>
              </a:r>
            </a:p>
            <a:p>
              <a:pPr algn="ctr">
                <a:lnSpc>
                  <a:spcPts val="2729"/>
                </a:lnSpc>
              </a:pPr>
              <a:r>
                <a:rPr lang="en-US" sz="24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di chuyển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3524250" y="4714875"/>
            <a:ext cx="381000" cy="0"/>
          </a:xfrm>
          <a:prstGeom prst="line">
            <a:avLst/>
          </a:prstGeom>
          <a:ln w="47625" cap="rnd">
            <a:solidFill>
              <a:srgbClr val="8F969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4095750" y="3810000"/>
            <a:ext cx="2476500" cy="1809750"/>
            <a:chOff x="0" y="0"/>
            <a:chExt cx="3302000" cy="241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02000" cy="2413000"/>
            </a:xfrm>
            <a:custGeom>
              <a:avLst/>
              <a:gdLst/>
              <a:ahLst/>
              <a:cxnLst/>
              <a:rect l="l" t="t" r="r" b="b"/>
              <a:pathLst>
                <a:path w="3302000" h="2413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2364154"/>
                  </a:lnTo>
                  <a:cubicBezTo>
                    <a:pt x="3302000" y="2391131"/>
                    <a:pt x="3280131" y="2413000"/>
                    <a:pt x="3253154" y="2413000"/>
                  </a:cubicBezTo>
                  <a:lnTo>
                    <a:pt x="48846" y="2413000"/>
                  </a:lnTo>
                  <a:cubicBezTo>
                    <a:pt x="21869" y="2413000"/>
                    <a:pt x="0" y="2391131"/>
                    <a:pt x="0" y="2364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55B8A6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302000" cy="2460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4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  Đọc hàng/cột</a:t>
              </a:r>
            </a:p>
            <a:p>
              <a:pPr algn="ctr">
                <a:lnSpc>
                  <a:spcPts val="2729"/>
                </a:lnSpc>
              </a:pPr>
              <a:r>
                <a:rPr lang="en-US" sz="24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bỏ ô trống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572250" y="4714875"/>
            <a:ext cx="381000" cy="0"/>
          </a:xfrm>
          <a:prstGeom prst="line">
            <a:avLst/>
          </a:prstGeom>
          <a:ln w="47625" cap="rnd">
            <a:solidFill>
              <a:srgbClr val="8F969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7143750" y="3810000"/>
            <a:ext cx="2476500" cy="1809750"/>
            <a:chOff x="0" y="0"/>
            <a:chExt cx="3302000" cy="2413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02000" cy="2413000"/>
            </a:xfrm>
            <a:custGeom>
              <a:avLst/>
              <a:gdLst/>
              <a:ahLst/>
              <a:cxnLst/>
              <a:rect l="l" t="t" r="r" b="b"/>
              <a:pathLst>
                <a:path w="3302000" h="2413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2364154"/>
                  </a:lnTo>
                  <a:cubicBezTo>
                    <a:pt x="3302000" y="2391131"/>
                    <a:pt x="3280131" y="2413000"/>
                    <a:pt x="3253154" y="2413000"/>
                  </a:cubicBezTo>
                  <a:lnTo>
                    <a:pt x="48846" y="2413000"/>
                  </a:lnTo>
                  <a:cubicBezTo>
                    <a:pt x="21869" y="2413000"/>
                    <a:pt x="0" y="2391131"/>
                    <a:pt x="0" y="2364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F6B44B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302000" cy="2460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4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  Ghép cặp</a:t>
              </a:r>
            </a:p>
            <a:p>
              <a:pPr algn="ctr">
                <a:lnSpc>
                  <a:spcPts val="2729"/>
                </a:lnSpc>
              </a:pPr>
              <a:r>
                <a:rPr lang="en-US" sz="24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cộng điểm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9620250" y="4714875"/>
            <a:ext cx="381000" cy="0"/>
          </a:xfrm>
          <a:prstGeom prst="line">
            <a:avLst/>
          </a:prstGeom>
          <a:ln w="47625" cap="rnd">
            <a:solidFill>
              <a:srgbClr val="8F969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0191750" y="3810000"/>
            <a:ext cx="2476500" cy="1809750"/>
            <a:chOff x="0" y="0"/>
            <a:chExt cx="3302000" cy="241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02000" cy="2413000"/>
            </a:xfrm>
            <a:custGeom>
              <a:avLst/>
              <a:gdLst/>
              <a:ahLst/>
              <a:cxnLst/>
              <a:rect l="l" t="t" r="r" b="b"/>
              <a:pathLst>
                <a:path w="3302000" h="2413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2364154"/>
                  </a:lnTo>
                  <a:cubicBezTo>
                    <a:pt x="3302000" y="2391131"/>
                    <a:pt x="3280131" y="2413000"/>
                    <a:pt x="3253154" y="2413000"/>
                  </a:cubicBezTo>
                  <a:lnTo>
                    <a:pt x="48846" y="2413000"/>
                  </a:lnTo>
                  <a:cubicBezTo>
                    <a:pt x="21869" y="2413000"/>
                    <a:pt x="0" y="2391131"/>
                    <a:pt x="0" y="2364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ED765E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302000" cy="2460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4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  Nếu thay đổi</a:t>
              </a:r>
            </a:p>
            <a:p>
              <a:pPr algn="ctr">
                <a:lnSpc>
                  <a:spcPts val="2729"/>
                </a:lnSpc>
              </a:pPr>
              <a:r>
                <a:rPr lang="en-US" sz="24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sinh ô + vẽ lại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2668250" y="4714875"/>
            <a:ext cx="381000" cy="0"/>
          </a:xfrm>
          <a:prstGeom prst="line">
            <a:avLst/>
          </a:prstGeom>
          <a:ln w="47625" cap="rnd">
            <a:solidFill>
              <a:srgbClr val="8F969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3239750" y="3810000"/>
            <a:ext cx="2476500" cy="1809750"/>
            <a:chOff x="0" y="0"/>
            <a:chExt cx="3302000" cy="2413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302000" cy="2413000"/>
            </a:xfrm>
            <a:custGeom>
              <a:avLst/>
              <a:gdLst/>
              <a:ahLst/>
              <a:cxnLst/>
              <a:rect l="l" t="t" r="r" b="b"/>
              <a:pathLst>
                <a:path w="3302000" h="2413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2364154"/>
                  </a:lnTo>
                  <a:cubicBezTo>
                    <a:pt x="3302000" y="2391131"/>
                    <a:pt x="3280131" y="2413000"/>
                    <a:pt x="3253154" y="2413000"/>
                  </a:cubicBezTo>
                  <a:lnTo>
                    <a:pt x="48846" y="2413000"/>
                  </a:lnTo>
                  <a:cubicBezTo>
                    <a:pt x="21869" y="2413000"/>
                    <a:pt x="0" y="2391131"/>
                    <a:pt x="0" y="2364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22252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302000" cy="2460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4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5  Kiểm tra</a:t>
              </a:r>
            </a:p>
            <a:p>
              <a:pPr algn="ctr">
                <a:lnSpc>
                  <a:spcPts val="2729"/>
                </a:lnSpc>
              </a:pPr>
              <a:r>
                <a:rPr lang="en-US" sz="24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thắng / hết lượt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239500" y="8067675"/>
            <a:ext cx="6134100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400">
                <a:solidFill>
                  <a:srgbClr val="22252A"/>
                </a:solidFill>
                <a:latin typeface="Noto Sans"/>
                <a:ea typeface="Noto Sans"/>
                <a:cs typeface="Noto Sans"/>
                <a:sym typeface="Noto Sans"/>
              </a:rPr>
              <a:t>Không đổi → kết thúc lượt, không sinh ô</a:t>
            </a:r>
          </a:p>
        </p:txBody>
      </p:sp>
      <p:sp>
        <p:nvSpPr>
          <p:cNvPr id="24" name="AutoShape 24"/>
          <p:cNvSpPr/>
          <p:nvPr/>
        </p:nvSpPr>
        <p:spPr>
          <a:xfrm flipV="1">
            <a:off x="11430000" y="5810250"/>
            <a:ext cx="0" cy="2000250"/>
          </a:xfrm>
          <a:prstGeom prst="line">
            <a:avLst/>
          </a:prstGeom>
          <a:ln w="28575" cap="flat">
            <a:solidFill>
              <a:srgbClr val="ED765E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5" name="TextBox 2"/>
          <p:cNvSpPr txBox="1"/>
          <p:nvPr/>
        </p:nvSpPr>
        <p:spPr>
          <a:xfrm>
            <a:off x="843395" y="1160738"/>
            <a:ext cx="13335000" cy="703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5100" b="1">
                <a:solidFill>
                  <a:srgbClr val="22252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Một </a:t>
            </a:r>
            <a:r>
              <a:rPr lang="en-US" sz="5100" b="1" smtClean="0">
                <a:solidFill>
                  <a:srgbClr val="22252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lượt </a:t>
            </a:r>
            <a:r>
              <a:rPr lang="en-US" sz="5100" b="1">
                <a:solidFill>
                  <a:srgbClr val="22252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được xử lý như thế nào?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67270" y="1943100"/>
            <a:ext cx="1410133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5400" b="1" smtClean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CÁC CÔNG NGHỆ TẠO THÀNH TRÒ CHƠI </a:t>
            </a:r>
            <a:endParaRPr lang="en-US" sz="5400" b="1">
              <a:solidFill>
                <a:srgbClr val="FFFFF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47750" y="4286250"/>
            <a:ext cx="4953000" cy="2238375"/>
            <a:chOff x="0" y="0"/>
            <a:chExt cx="6604000" cy="2984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6604000" cy="2984500"/>
              <a:chOff x="0" y="0"/>
              <a:chExt cx="6604000" cy="29845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604000" cy="2984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984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ED765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604000" cy="302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400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44500" y="479425"/>
              <a:ext cx="5969000" cy="510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6"/>
                </a:lnSpc>
              </a:pPr>
              <a:r>
                <a:rPr lang="en-US" sz="32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HTML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4500" y="1314451"/>
              <a:ext cx="5969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Cấu trúc trang &amp; bàn cờ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72250" y="4286250"/>
            <a:ext cx="4953000" cy="2238375"/>
            <a:chOff x="0" y="0"/>
            <a:chExt cx="6604000" cy="29845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604000" cy="2984500"/>
              <a:chOff x="0" y="0"/>
              <a:chExt cx="6604000" cy="2984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604000" cy="2984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984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F6B4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604000" cy="302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44500" y="479425"/>
              <a:ext cx="5969000" cy="510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6"/>
                </a:lnSpc>
              </a:pPr>
              <a:r>
                <a:rPr lang="en-US" sz="32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4500" y="1314451"/>
              <a:ext cx="596900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Bố cục, màu, hiệu ứng, responsive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96750" y="4286250"/>
            <a:ext cx="4953000" cy="2238375"/>
            <a:chOff x="0" y="0"/>
            <a:chExt cx="6604000" cy="29845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604000" cy="2984500"/>
              <a:chOff x="0" y="0"/>
              <a:chExt cx="6604000" cy="29845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604000" cy="2984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984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55B8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604000" cy="302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44500" y="479425"/>
              <a:ext cx="5969000" cy="510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6"/>
                </a:lnSpc>
              </a:pPr>
              <a:r>
                <a:rPr lang="en-US" sz="32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JavaScript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4500" y="1314451"/>
              <a:ext cx="596900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Luật chơi, trạng thái, sự kiện, localStorage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47750" y="7096125"/>
            <a:ext cx="4953000" cy="2238375"/>
            <a:chOff x="0" y="0"/>
            <a:chExt cx="6604000" cy="2984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6604000" cy="2984500"/>
              <a:chOff x="0" y="0"/>
              <a:chExt cx="6604000" cy="29845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604000" cy="2984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984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7A6E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604000" cy="302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44500" y="479425"/>
              <a:ext cx="5969000" cy="510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6"/>
                </a:lnSpc>
              </a:pPr>
              <a:r>
                <a:rPr lang="en-US" sz="32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Git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500" y="1314451"/>
              <a:ext cx="5969000" cy="413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Theo dõi thay đổi code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72250" y="7096125"/>
            <a:ext cx="4953000" cy="2238375"/>
            <a:chOff x="0" y="0"/>
            <a:chExt cx="6604000" cy="29845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604000" cy="2984500"/>
              <a:chOff x="0" y="0"/>
              <a:chExt cx="6604000" cy="2984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604000" cy="2984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984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5961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6604000" cy="302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44500" y="479425"/>
              <a:ext cx="5969000" cy="510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6"/>
                </a:lnSpc>
              </a:pPr>
              <a:r>
                <a:rPr lang="en-US" sz="32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GitHub Pages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4500" y="1314451"/>
              <a:ext cx="5969000" cy="824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Triển khai web tĩnh, không backend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904875"/>
            <a:ext cx="10953750" cy="773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8"/>
              </a:lnSpc>
            </a:pPr>
            <a:r>
              <a:rPr lang="en-US" sz="5700" b="1">
                <a:solidFill>
                  <a:srgbClr val="22252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Những giới hạn hiện tại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876425"/>
            <a:ext cx="8572500" cy="35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8F969F"/>
                </a:solidFill>
                <a:latin typeface="Noto Sans"/>
                <a:ea typeface="Noto Sans"/>
                <a:cs typeface="Noto Sans"/>
                <a:sym typeface="Noto Sans"/>
              </a:rPr>
              <a:t>Các khoảng trống xác định rõ hướng phát triển tiếp theo.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619500"/>
            <a:ext cx="7620000" cy="2286000"/>
            <a:chOff x="0" y="0"/>
            <a:chExt cx="10160000" cy="3048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160000" cy="3048000"/>
              <a:chOff x="0" y="0"/>
              <a:chExt cx="10160000" cy="3048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0160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048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ED765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0160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698500" y="688975"/>
              <a:ext cx="8255000" cy="1129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Chưa có đăng nhập</a:t>
              </a:r>
            </a:p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&amp; đồng bộ kỷ lục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86875" y="3619500"/>
            <a:ext cx="7620000" cy="2286000"/>
            <a:chOff x="0" y="0"/>
            <a:chExt cx="10160000" cy="3048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0160000" cy="3048000"/>
              <a:chOff x="0" y="0"/>
              <a:chExt cx="10160000" cy="3048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0160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048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7A6E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0160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98500" y="688975"/>
              <a:ext cx="8255000" cy="1129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Chưa có bảng xếp hạng</a:t>
              </a:r>
            </a:p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trực tuyến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7750" y="6477000"/>
            <a:ext cx="7620000" cy="2286000"/>
            <a:chOff x="0" y="0"/>
            <a:chExt cx="10160000" cy="3048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0160000" cy="3048000"/>
              <a:chOff x="0" y="0"/>
              <a:chExt cx="10160000" cy="3048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160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048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6B4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160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98500" y="688975"/>
              <a:ext cx="8255000" cy="1129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Bàn cờ cố định 4 × 4</a:t>
              </a:r>
            </a:p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chưa cấu hình được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86875" y="6477000"/>
            <a:ext cx="7620000" cy="2286000"/>
            <a:chOff x="0" y="0"/>
            <a:chExt cx="10160000" cy="3048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0160000" cy="3048000"/>
              <a:chOff x="0" y="0"/>
              <a:chExt cx="10160000" cy="3048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0160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048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55B8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0160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698500" y="688975"/>
              <a:ext cx="8255000" cy="1129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localStorage phụ thuộc</a:t>
              </a:r>
            </a:p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trình duyệt &amp; cache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952500"/>
            <a:ext cx="11906250" cy="773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8"/>
              </a:lnSpc>
            </a:pPr>
            <a:r>
              <a:rPr lang="en-US" sz="5700" b="1" smtClean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QUÁ TRÌNH CẬP NHẬT</a:t>
            </a:r>
            <a:endParaRPr lang="en-US" sz="5700" b="1">
              <a:solidFill>
                <a:srgbClr val="FFFFF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7750" y="1971675"/>
            <a:ext cx="9048750" cy="35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400">
                <a:solidFill>
                  <a:srgbClr val="8F969F"/>
                </a:solidFill>
                <a:latin typeface="Noto Sans"/>
                <a:ea typeface="Noto Sans"/>
                <a:cs typeface="Noto Sans"/>
                <a:sym typeface="Noto Sans"/>
              </a:rPr>
              <a:t>Từ khung game sơ lược đến trải nghiệm được tối ưu.</a:t>
            </a:r>
          </a:p>
        </p:txBody>
      </p:sp>
      <p:sp>
        <p:nvSpPr>
          <p:cNvPr id="4" name="AutoShape 4"/>
          <p:cNvSpPr/>
          <p:nvPr/>
        </p:nvSpPr>
        <p:spPr>
          <a:xfrm>
            <a:off x="1809750" y="5810250"/>
            <a:ext cx="14573250" cy="0"/>
          </a:xfrm>
          <a:prstGeom prst="line">
            <a:avLst/>
          </a:prstGeom>
          <a:ln w="76200" cap="rnd">
            <a:solidFill>
              <a:srgbClr val="2B303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2286000" y="5381625"/>
            <a:ext cx="857250" cy="857250"/>
            <a:chOff x="0" y="0"/>
            <a:chExt cx="1143000" cy="1143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69333" y="0"/>
                  </a:moveTo>
                  <a:lnTo>
                    <a:pt x="973667" y="0"/>
                  </a:lnTo>
                  <a:cubicBezTo>
                    <a:pt x="1018577" y="0"/>
                    <a:pt x="1061647" y="17840"/>
                    <a:pt x="1093403" y="49597"/>
                  </a:cubicBezTo>
                  <a:cubicBezTo>
                    <a:pt x="1125160" y="81353"/>
                    <a:pt x="1143000" y="124423"/>
                    <a:pt x="1143000" y="169333"/>
                  </a:cubicBezTo>
                  <a:lnTo>
                    <a:pt x="1143000" y="973667"/>
                  </a:lnTo>
                  <a:cubicBezTo>
                    <a:pt x="1143000" y="1018577"/>
                    <a:pt x="1125160" y="1061647"/>
                    <a:pt x="1093403" y="1093403"/>
                  </a:cubicBezTo>
                  <a:cubicBezTo>
                    <a:pt x="1061647" y="1125160"/>
                    <a:pt x="1018577" y="1143000"/>
                    <a:pt x="973667" y="1143000"/>
                  </a:cubicBezTo>
                  <a:lnTo>
                    <a:pt x="169333" y="1143000"/>
                  </a:lnTo>
                  <a:cubicBezTo>
                    <a:pt x="124423" y="1143000"/>
                    <a:pt x="81353" y="1125160"/>
                    <a:pt x="49597" y="1093403"/>
                  </a:cubicBezTo>
                  <a:cubicBezTo>
                    <a:pt x="17840" y="1061647"/>
                    <a:pt x="0" y="1018577"/>
                    <a:pt x="0" y="973667"/>
                  </a:cubicBezTo>
                  <a:lnTo>
                    <a:pt x="0" y="169333"/>
                  </a:lnTo>
                  <a:cubicBezTo>
                    <a:pt x="0" y="124423"/>
                    <a:pt x="17840" y="81353"/>
                    <a:pt x="49597" y="49597"/>
                  </a:cubicBezTo>
                  <a:cubicBezTo>
                    <a:pt x="81353" y="17840"/>
                    <a:pt x="124423" y="0"/>
                    <a:pt x="169333" y="0"/>
                  </a:cubicBezTo>
                  <a:close/>
                </a:path>
              </a:pathLst>
            </a:custGeom>
            <a:solidFill>
              <a:srgbClr val="7A6EE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28750" y="4057650"/>
            <a:ext cx="2667000" cy="32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3200" b="1" spc="132">
                <a:solidFill>
                  <a:srgbClr val="8F96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09/10/2026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8750" y="6381750"/>
            <a:ext cx="2667000" cy="3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8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README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8250" y="6924675"/>
            <a:ext cx="304800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Giới thiệu nhóm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191250" y="5381625"/>
            <a:ext cx="857250" cy="857250"/>
            <a:chOff x="0" y="0"/>
            <a:chExt cx="1143000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69333" y="0"/>
                  </a:moveTo>
                  <a:lnTo>
                    <a:pt x="973667" y="0"/>
                  </a:lnTo>
                  <a:cubicBezTo>
                    <a:pt x="1018577" y="0"/>
                    <a:pt x="1061647" y="17840"/>
                    <a:pt x="1093403" y="49597"/>
                  </a:cubicBezTo>
                  <a:cubicBezTo>
                    <a:pt x="1125160" y="81353"/>
                    <a:pt x="1143000" y="124423"/>
                    <a:pt x="1143000" y="169333"/>
                  </a:cubicBezTo>
                  <a:lnTo>
                    <a:pt x="1143000" y="973667"/>
                  </a:lnTo>
                  <a:cubicBezTo>
                    <a:pt x="1143000" y="1018577"/>
                    <a:pt x="1125160" y="1061647"/>
                    <a:pt x="1093403" y="1093403"/>
                  </a:cubicBezTo>
                  <a:cubicBezTo>
                    <a:pt x="1061647" y="1125160"/>
                    <a:pt x="1018577" y="1143000"/>
                    <a:pt x="973667" y="1143000"/>
                  </a:cubicBezTo>
                  <a:lnTo>
                    <a:pt x="169333" y="1143000"/>
                  </a:lnTo>
                  <a:cubicBezTo>
                    <a:pt x="124423" y="1143000"/>
                    <a:pt x="81353" y="1125160"/>
                    <a:pt x="49597" y="1093403"/>
                  </a:cubicBezTo>
                  <a:cubicBezTo>
                    <a:pt x="17840" y="1061647"/>
                    <a:pt x="0" y="1018577"/>
                    <a:pt x="0" y="973667"/>
                  </a:cubicBezTo>
                  <a:lnTo>
                    <a:pt x="0" y="169333"/>
                  </a:lnTo>
                  <a:cubicBezTo>
                    <a:pt x="0" y="124423"/>
                    <a:pt x="17840" y="81353"/>
                    <a:pt x="49597" y="49597"/>
                  </a:cubicBezTo>
                  <a:cubicBezTo>
                    <a:pt x="81353" y="17840"/>
                    <a:pt x="124423" y="0"/>
                    <a:pt x="169333" y="0"/>
                  </a:cubicBezTo>
                  <a:close/>
                </a:path>
              </a:pathLst>
            </a:custGeom>
            <a:solidFill>
              <a:srgbClr val="F6B44B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334000" y="4057650"/>
            <a:ext cx="2667000" cy="32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3200" b="1" spc="132">
                <a:solidFill>
                  <a:srgbClr val="8F96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09/10/2026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34000" y="6381750"/>
            <a:ext cx="2667000" cy="3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8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v1.0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96500" y="5381625"/>
            <a:ext cx="857250" cy="857250"/>
            <a:chOff x="0" y="0"/>
            <a:chExt cx="1143000" cy="1143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69333" y="0"/>
                  </a:moveTo>
                  <a:lnTo>
                    <a:pt x="973667" y="0"/>
                  </a:lnTo>
                  <a:cubicBezTo>
                    <a:pt x="1018577" y="0"/>
                    <a:pt x="1061647" y="17840"/>
                    <a:pt x="1093403" y="49597"/>
                  </a:cubicBezTo>
                  <a:cubicBezTo>
                    <a:pt x="1125160" y="81353"/>
                    <a:pt x="1143000" y="124423"/>
                    <a:pt x="1143000" y="169333"/>
                  </a:cubicBezTo>
                  <a:lnTo>
                    <a:pt x="1143000" y="973667"/>
                  </a:lnTo>
                  <a:cubicBezTo>
                    <a:pt x="1143000" y="1018577"/>
                    <a:pt x="1125160" y="1061647"/>
                    <a:pt x="1093403" y="1093403"/>
                  </a:cubicBezTo>
                  <a:cubicBezTo>
                    <a:pt x="1061647" y="1125160"/>
                    <a:pt x="1018577" y="1143000"/>
                    <a:pt x="973667" y="1143000"/>
                  </a:cubicBezTo>
                  <a:lnTo>
                    <a:pt x="169333" y="1143000"/>
                  </a:lnTo>
                  <a:cubicBezTo>
                    <a:pt x="124423" y="1143000"/>
                    <a:pt x="81353" y="1125160"/>
                    <a:pt x="49597" y="1093403"/>
                  </a:cubicBezTo>
                  <a:cubicBezTo>
                    <a:pt x="17840" y="1061647"/>
                    <a:pt x="0" y="1018577"/>
                    <a:pt x="0" y="973667"/>
                  </a:cubicBezTo>
                  <a:lnTo>
                    <a:pt x="0" y="169333"/>
                  </a:lnTo>
                  <a:cubicBezTo>
                    <a:pt x="0" y="124423"/>
                    <a:pt x="17840" y="81353"/>
                    <a:pt x="49597" y="49597"/>
                  </a:cubicBezTo>
                  <a:cubicBezTo>
                    <a:pt x="81353" y="17840"/>
                    <a:pt x="124423" y="0"/>
                    <a:pt x="169333" y="0"/>
                  </a:cubicBezTo>
                  <a:close/>
                </a:path>
              </a:pathLst>
            </a:custGeom>
            <a:solidFill>
              <a:srgbClr val="55B8A6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3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239250" y="4057650"/>
            <a:ext cx="2667000" cy="32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3200" b="1" spc="132">
                <a:solidFill>
                  <a:srgbClr val="8F96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09/10/2026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39250" y="6381750"/>
            <a:ext cx="2667000" cy="3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8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v1.1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29750" y="6924675"/>
            <a:ext cx="304800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Animation di chuyển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001750" y="5381625"/>
            <a:ext cx="857250" cy="857250"/>
            <a:chOff x="0" y="0"/>
            <a:chExt cx="1143000" cy="1143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69333" y="0"/>
                  </a:moveTo>
                  <a:lnTo>
                    <a:pt x="973667" y="0"/>
                  </a:lnTo>
                  <a:cubicBezTo>
                    <a:pt x="1018577" y="0"/>
                    <a:pt x="1061647" y="17840"/>
                    <a:pt x="1093403" y="49597"/>
                  </a:cubicBezTo>
                  <a:cubicBezTo>
                    <a:pt x="1125160" y="81353"/>
                    <a:pt x="1143000" y="124423"/>
                    <a:pt x="1143000" y="169333"/>
                  </a:cubicBezTo>
                  <a:lnTo>
                    <a:pt x="1143000" y="973667"/>
                  </a:lnTo>
                  <a:cubicBezTo>
                    <a:pt x="1143000" y="1018577"/>
                    <a:pt x="1125160" y="1061647"/>
                    <a:pt x="1093403" y="1093403"/>
                  </a:cubicBezTo>
                  <a:cubicBezTo>
                    <a:pt x="1061647" y="1125160"/>
                    <a:pt x="1018577" y="1143000"/>
                    <a:pt x="973667" y="1143000"/>
                  </a:cubicBezTo>
                  <a:lnTo>
                    <a:pt x="169333" y="1143000"/>
                  </a:lnTo>
                  <a:cubicBezTo>
                    <a:pt x="124423" y="1143000"/>
                    <a:pt x="81353" y="1125160"/>
                    <a:pt x="49597" y="1093403"/>
                  </a:cubicBezTo>
                  <a:cubicBezTo>
                    <a:pt x="17840" y="1061647"/>
                    <a:pt x="0" y="1018577"/>
                    <a:pt x="0" y="973667"/>
                  </a:cubicBezTo>
                  <a:lnTo>
                    <a:pt x="0" y="169333"/>
                  </a:lnTo>
                  <a:cubicBezTo>
                    <a:pt x="0" y="124423"/>
                    <a:pt x="17840" y="81353"/>
                    <a:pt x="49597" y="49597"/>
                  </a:cubicBezTo>
                  <a:cubicBezTo>
                    <a:pt x="81353" y="17840"/>
                    <a:pt x="124423" y="0"/>
                    <a:pt x="169333" y="0"/>
                  </a:cubicBezTo>
                  <a:close/>
                </a:path>
              </a:pathLst>
            </a:custGeom>
            <a:solidFill>
              <a:srgbClr val="ED765E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4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144500" y="4057650"/>
            <a:ext cx="2667000" cy="32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3200" b="1" spc="132">
                <a:solidFill>
                  <a:srgbClr val="8F96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16/10/2026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44500" y="6381750"/>
            <a:ext cx="2667000" cy="3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8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v1.2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54000" y="6924675"/>
            <a:ext cx="304800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Tối ưu giao diện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3000" y="6763512"/>
            <a:ext cx="4095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Noto Sans" panose="020B0604020202020204" charset="0"/>
                <a:ea typeface="Noto Sans" panose="020B0604020202020204" charset="0"/>
              </a:rPr>
              <a:t>Index.html-Phiên bản 1.0 tạo sơ lượt về game </a:t>
            </a:r>
          </a:p>
          <a:p>
            <a:endParaRPr lang="en-US" sz="2400">
              <a:solidFill>
                <a:schemeClr val="bg1"/>
              </a:solidFill>
              <a:latin typeface="Noto Sans" panose="020B0604020202020204" charset="0"/>
              <a:ea typeface="Noto Sans" panose="020B060402020202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857250"/>
            <a:ext cx="11430000" cy="773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8"/>
              </a:lnSpc>
            </a:pPr>
            <a:r>
              <a:rPr lang="en-US" sz="5700" b="1" smtClean="0">
                <a:solidFill>
                  <a:srgbClr val="22252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PHÂN CÔNG NHIỆM VỤ</a:t>
            </a:r>
            <a:endParaRPr lang="en-US" sz="5700" b="1">
              <a:solidFill>
                <a:srgbClr val="22252A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47750" y="2762250"/>
            <a:ext cx="7239000" cy="4762500"/>
            <a:chOff x="0" y="0"/>
            <a:chExt cx="9652000" cy="6350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9652000" cy="6350000"/>
              <a:chOff x="0" y="0"/>
              <a:chExt cx="9652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652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6350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7A6E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9652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508000" y="701675"/>
              <a:ext cx="8255000" cy="768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90"/>
                </a:lnSpc>
              </a:pPr>
              <a:r>
                <a:rPr lang="en-US" sz="4125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Lê Chí Tài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08000" y="1901825"/>
              <a:ext cx="7112000" cy="17953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algn="l">
                <a:lnSpc>
                  <a:spcPts val="3487"/>
                </a:lnSpc>
                <a:buFont typeface="Arial" panose="020B0604020202020204" pitchFamily="34" charset="0"/>
                <a:buChar char="•"/>
              </a:pPr>
              <a:r>
                <a:rPr lang="en-US" sz="2400" smtClean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Lập trình</a:t>
              </a:r>
            </a:p>
            <a:p>
              <a:pPr marL="342900" indent="-342900" algn="l">
                <a:lnSpc>
                  <a:spcPts val="3487"/>
                </a:lnSpc>
                <a:buFont typeface="Arial" panose="020B0604020202020204" pitchFamily="34" charset="0"/>
                <a:buChar char="•"/>
              </a:pPr>
              <a:r>
                <a:rPr lang="en-US" sz="2400" smtClean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Quay </a:t>
              </a: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video </a:t>
              </a:r>
              <a:r>
                <a:rPr lang="en-US" sz="2400" smtClean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demo</a:t>
              </a:r>
            </a:p>
            <a:p>
              <a:pPr marL="342900" indent="-342900" algn="l">
                <a:lnSpc>
                  <a:spcPts val="3487"/>
                </a:lnSpc>
                <a:buFont typeface="Arial" panose="020B0604020202020204" pitchFamily="34" charset="0"/>
                <a:buChar char="•"/>
              </a:pPr>
              <a:r>
                <a:rPr lang="en-US" sz="2400" smtClean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Viết </a:t>
              </a: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báo cáo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10750" y="2762250"/>
            <a:ext cx="7239000" cy="4762500"/>
            <a:chOff x="0" y="0"/>
            <a:chExt cx="9652000" cy="6350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9652000" cy="6350000"/>
              <a:chOff x="0" y="0"/>
              <a:chExt cx="9652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652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6350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ED765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652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762000" y="682625"/>
              <a:ext cx="86360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75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Trần Song Uyển Nhi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0" y="1901825"/>
              <a:ext cx="7112000" cy="11532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87"/>
                </a:lnSpc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Thiết kế PowerPoint</a:t>
              </a:r>
            </a:p>
            <a:p>
              <a:pPr algn="l">
                <a:lnSpc>
                  <a:spcPts val="3487"/>
                </a:lnSpc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Thuyết trình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429000" y="8439150"/>
            <a:ext cx="11430000" cy="365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3200">
                <a:solidFill>
                  <a:srgbClr val="22252A"/>
                </a:solidFill>
                <a:latin typeface="Noto Sans"/>
                <a:ea typeface="Noto Sans"/>
                <a:cs typeface="Noto Sans"/>
                <a:sym typeface="Noto Sans"/>
              </a:rPr>
              <a:t>Trợ lý lập trình AI trong VS Code hỗ trợ quá trình phát triển.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47750" y="1333500"/>
            <a:ext cx="6191250" cy="1648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sz="61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Xem game</a:t>
            </a:r>
          </a:p>
          <a:p>
            <a:pPr algn="l">
              <a:lnSpc>
                <a:spcPts val="6396"/>
              </a:lnSpc>
            </a:pPr>
            <a:r>
              <a:rPr lang="en-US" sz="61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hoạt động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3781425"/>
            <a:ext cx="5810250" cy="112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6DF"/>
                </a:solidFill>
                <a:latin typeface="Noto Sans"/>
                <a:ea typeface="Noto Sans"/>
                <a:cs typeface="Noto Sans"/>
                <a:sym typeface="Noto Sans"/>
              </a:rPr>
              <a:t>Demo cách chơi, thao tác bàn phím và vuốt, các tính năng cơ bản cùng giao diện responsive.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7750" y="6819900"/>
            <a:ext cx="5810250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 u="sng" spc="173">
                <a:solidFill>
                  <a:srgbClr val="F6B44B"/>
                </a:solidFill>
                <a:latin typeface="Noto Sans Bold"/>
                <a:ea typeface="Noto Sans Bold"/>
                <a:cs typeface="Noto Sans Bold"/>
                <a:sym typeface="Noto Sans Bold"/>
                <a:hlinkClick r:id="rId4" tooltip="https://youtu.be/JUbE6pWS-EY"/>
              </a:rPr>
              <a:t>youtu.be/JUbE6pWS-EY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7750" y="7924800"/>
            <a:ext cx="32385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4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▶  VIDEO DEMO</a:t>
            </a:r>
          </a:p>
        </p:txBody>
      </p:sp>
      <p:pic>
        <p:nvPicPr>
          <p:cNvPr id="7" name="1017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11291" y="2099102"/>
            <a:ext cx="10356796" cy="58256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3114" y="3601417"/>
            <a:ext cx="11906250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600" b="1" smtClean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CẢM ƠN THẦY VÀ CÁC BẠN ĐÃ LẮNG NGHE</a:t>
            </a:r>
            <a:endParaRPr lang="en-US" sz="6600" b="1">
              <a:solidFill>
                <a:srgbClr val="FFFFF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7750" y="5810374"/>
            <a:ext cx="1066800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800" smtClean="0">
                <a:solidFill>
                  <a:srgbClr val="FFF6DF"/>
                </a:solidFill>
                <a:latin typeface="Noto Sans"/>
                <a:ea typeface="Noto Sans"/>
                <a:cs typeface="Noto Sans"/>
                <a:sym typeface="Noto Sans"/>
              </a:rPr>
              <a:t>Những nhận xét và góp ý của thầy và các bạn sẽ giúp cho dự án của chúng em hoàn thiện hơn</a:t>
            </a:r>
            <a:endParaRPr lang="en-US" sz="2800">
              <a:solidFill>
                <a:srgbClr val="FFF6D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47750" y="8201025"/>
            <a:ext cx="85725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 spc="179">
                <a:solidFill>
                  <a:srgbClr val="F6B44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CẢM ƠN — MỜI HỎI ĐÁP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573000" y="1524000"/>
            <a:ext cx="1619250" cy="1619250"/>
            <a:chOff x="0" y="0"/>
            <a:chExt cx="2159000" cy="215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9000" cy="2159000"/>
            </a:xfrm>
            <a:custGeom>
              <a:avLst/>
              <a:gdLst/>
              <a:ahLst/>
              <a:cxnLst/>
              <a:rect l="l" t="t" r="r" b="b"/>
              <a:pathLst>
                <a:path w="2159000" h="2159000">
                  <a:moveTo>
                    <a:pt x="89647" y="0"/>
                  </a:moveTo>
                  <a:lnTo>
                    <a:pt x="2069353" y="0"/>
                  </a:lnTo>
                  <a:cubicBezTo>
                    <a:pt x="2118864" y="0"/>
                    <a:pt x="2159000" y="40136"/>
                    <a:pt x="2159000" y="89647"/>
                  </a:cubicBezTo>
                  <a:lnTo>
                    <a:pt x="2159000" y="2069353"/>
                  </a:lnTo>
                  <a:cubicBezTo>
                    <a:pt x="2159000" y="2118864"/>
                    <a:pt x="2118864" y="2159000"/>
                    <a:pt x="2069353" y="2159000"/>
                  </a:cubicBezTo>
                  <a:lnTo>
                    <a:pt x="89647" y="2159000"/>
                  </a:lnTo>
                  <a:cubicBezTo>
                    <a:pt x="40136" y="2159000"/>
                    <a:pt x="0" y="2118864"/>
                    <a:pt x="0" y="2069353"/>
                  </a:cubicBezTo>
                  <a:lnTo>
                    <a:pt x="0" y="89647"/>
                  </a:lnTo>
                  <a:cubicBezTo>
                    <a:pt x="0" y="40136"/>
                    <a:pt x="40136" y="0"/>
                    <a:pt x="89647" y="0"/>
                  </a:cubicBezTo>
                  <a:close/>
                </a:path>
              </a:pathLst>
            </a:custGeom>
            <a:solidFill>
              <a:srgbClr val="55B8A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159000" cy="223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90"/>
                </a:lnSpc>
              </a:pPr>
              <a:r>
                <a:rPr lang="en-US" sz="435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82750" y="3333750"/>
            <a:ext cx="2000250" cy="2000250"/>
            <a:chOff x="0" y="0"/>
            <a:chExt cx="2667000" cy="266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2594429"/>
                  </a:lnTo>
                  <a:cubicBezTo>
                    <a:pt x="2667000" y="2613676"/>
                    <a:pt x="2659354" y="2632134"/>
                    <a:pt x="2645744" y="2645744"/>
                  </a:cubicBezTo>
                  <a:cubicBezTo>
                    <a:pt x="2632134" y="2659354"/>
                    <a:pt x="2613676" y="2667000"/>
                    <a:pt x="2594429" y="2667000"/>
                  </a:cubicBezTo>
                  <a:lnTo>
                    <a:pt x="72571" y="2667000"/>
                  </a:lnTo>
                  <a:cubicBezTo>
                    <a:pt x="53324" y="2667000"/>
                    <a:pt x="34865" y="2659354"/>
                    <a:pt x="21256" y="2645744"/>
                  </a:cubicBezTo>
                  <a:cubicBezTo>
                    <a:pt x="7646" y="2632134"/>
                    <a:pt x="0" y="2613676"/>
                    <a:pt x="0" y="2594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6B44B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2667000" cy="2771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139"/>
                </a:lnSpc>
              </a:pPr>
              <a:r>
                <a:rPr lang="en-US" sz="510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01500" y="5619750"/>
            <a:ext cx="2476500" cy="2476500"/>
            <a:chOff x="0" y="0"/>
            <a:chExt cx="3302000" cy="3302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02000" cy="3302000"/>
            </a:xfrm>
            <a:custGeom>
              <a:avLst/>
              <a:gdLst/>
              <a:ahLst/>
              <a:cxnLst/>
              <a:rect l="l" t="t" r="r" b="b"/>
              <a:pathLst>
                <a:path w="3302000" h="3302000">
                  <a:moveTo>
                    <a:pt x="58615" y="0"/>
                  </a:moveTo>
                  <a:lnTo>
                    <a:pt x="3243385" y="0"/>
                  </a:lnTo>
                  <a:cubicBezTo>
                    <a:pt x="3275757" y="0"/>
                    <a:pt x="3302000" y="26243"/>
                    <a:pt x="3302000" y="58615"/>
                  </a:cubicBezTo>
                  <a:lnTo>
                    <a:pt x="3302000" y="3243385"/>
                  </a:lnTo>
                  <a:cubicBezTo>
                    <a:pt x="3302000" y="3275757"/>
                    <a:pt x="3275757" y="3302000"/>
                    <a:pt x="3243385" y="3302000"/>
                  </a:cubicBezTo>
                  <a:lnTo>
                    <a:pt x="58615" y="3302000"/>
                  </a:lnTo>
                  <a:cubicBezTo>
                    <a:pt x="26243" y="3302000"/>
                    <a:pt x="0" y="3275757"/>
                    <a:pt x="0" y="3243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7A6EE6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14300"/>
              <a:ext cx="3302000" cy="3416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189"/>
                </a:lnSpc>
              </a:pPr>
              <a:r>
                <a:rPr lang="en-US" sz="585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8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382750" y="6286500"/>
            <a:ext cx="2857500" cy="2857500"/>
            <a:chOff x="0" y="0"/>
            <a:chExt cx="3810000" cy="381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10000" cy="3810000"/>
            </a:xfrm>
            <a:custGeom>
              <a:avLst/>
              <a:gdLst/>
              <a:ahLst/>
              <a:cxnLst/>
              <a:rect l="l" t="t" r="r" b="b"/>
              <a:pathLst>
                <a:path w="3810000" h="38100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3759200"/>
                  </a:lnTo>
                  <a:cubicBezTo>
                    <a:pt x="3810000" y="3787256"/>
                    <a:pt x="3787256" y="3810000"/>
                    <a:pt x="3759200" y="3810000"/>
                  </a:cubicBezTo>
                  <a:lnTo>
                    <a:pt x="50800" y="3810000"/>
                  </a:lnTo>
                  <a:cubicBezTo>
                    <a:pt x="22744" y="3810000"/>
                    <a:pt x="0" y="3787256"/>
                    <a:pt x="0" y="375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D765E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3810000" cy="3914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350"/>
                </a:lnSpc>
              </a:pPr>
              <a:r>
                <a:rPr lang="en-US" sz="5250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2048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1044</Words>
  <Application>Microsoft Office PowerPoint</Application>
  <PresentationFormat>Custom</PresentationFormat>
  <Paragraphs>197</Paragraphs>
  <Slides>19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Noto Sans</vt:lpstr>
      <vt:lpstr>Roboto Bold</vt:lpstr>
      <vt:lpstr>Noto Sans Bold</vt:lpstr>
      <vt:lpstr>Arial</vt:lpstr>
      <vt:lpstr>Calibri</vt:lpstr>
      <vt:lpstr>Times New Roman</vt:lpstr>
      <vt:lpstr>Roboto Bold Italics</vt:lpstr>
      <vt:lpstr>Plus Jakarta Sans</vt:lpstr>
      <vt:lpstr>Roboto Italics</vt:lpstr>
      <vt:lpstr>Be Vietnam Ultra-Bold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làm game 2048</dc:title>
  <dc:creator>Admins</dc:creator>
  <cp:lastModifiedBy>LÊ HẠNH™ PC</cp:lastModifiedBy>
  <cp:revision>28</cp:revision>
  <dcterms:created xsi:type="dcterms:W3CDTF">2006-08-16T00:00:00Z</dcterms:created>
  <dcterms:modified xsi:type="dcterms:W3CDTF">2026-10-18T12:42:39Z</dcterms:modified>
  <dc:identifier>DAHYU5k-ZSg</dc:identifier>
</cp:coreProperties>
</file>